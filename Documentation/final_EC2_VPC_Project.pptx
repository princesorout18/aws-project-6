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Shape 0"/>
          <p:cNvSpPr/>
          <p:nvPr/>
        </p:nvSpPr>
        <p:spPr>
          <a:xfrm>
            <a:off x="8778240" y="0"/>
            <a:ext cx="18288" cy="6858000"/>
          </a:xfrm>
          <a:prstGeom prst="rect">
            <a:avLst/>
          </a:prstGeom>
          <a:solidFill>
            <a:srgbClr val="1C2E4F"/>
          </a:solidFill>
        </p:spPr>
      </p:sp>
      <p:sp>
        <p:nvSpPr>
          <p:cNvPr id="3" name="Shape 1"/>
          <p:cNvSpPr/>
          <p:nvPr/>
        </p:nvSpPr>
        <p:spPr>
          <a:xfrm>
            <a:off x="9436608" y="0"/>
            <a:ext cx="18288" cy="6858000"/>
          </a:xfrm>
          <a:prstGeom prst="rect">
            <a:avLst/>
          </a:prstGeom>
          <a:solidFill>
            <a:srgbClr val="1C2E4F"/>
          </a:solidFill>
        </p:spPr>
      </p:sp>
      <p:sp>
        <p:nvSpPr>
          <p:cNvPr id="4" name="Shape 2"/>
          <p:cNvSpPr/>
          <p:nvPr/>
        </p:nvSpPr>
        <p:spPr>
          <a:xfrm>
            <a:off x="10094976" y="0"/>
            <a:ext cx="18288" cy="6858000"/>
          </a:xfrm>
          <a:prstGeom prst="rect">
            <a:avLst/>
          </a:prstGeom>
          <a:solidFill>
            <a:srgbClr val="1C2E4F"/>
          </a:solidFill>
        </p:spPr>
      </p:sp>
      <p:sp>
        <p:nvSpPr>
          <p:cNvPr id="5" name="Shape 3"/>
          <p:cNvSpPr/>
          <p:nvPr/>
        </p:nvSpPr>
        <p:spPr>
          <a:xfrm>
            <a:off x="10753344" y="0"/>
            <a:ext cx="18288" cy="6858000"/>
          </a:xfrm>
          <a:prstGeom prst="rect">
            <a:avLst/>
          </a:prstGeom>
          <a:solidFill>
            <a:srgbClr val="1C2E4F"/>
          </a:solidFill>
        </p:spPr>
      </p:sp>
      <p:sp>
        <p:nvSpPr>
          <p:cNvPr id="6" name="Shape 4"/>
          <p:cNvSpPr/>
          <p:nvPr/>
        </p:nvSpPr>
        <p:spPr>
          <a:xfrm>
            <a:off x="11411712" y="0"/>
            <a:ext cx="18288" cy="6858000"/>
          </a:xfrm>
          <a:prstGeom prst="rect">
            <a:avLst/>
          </a:prstGeom>
          <a:solidFill>
            <a:srgbClr val="1C2E4F"/>
          </a:solidFill>
        </p:spPr>
      </p:sp>
      <p:sp>
        <p:nvSpPr>
          <p:cNvPr id="7" name="Text 5"/>
          <p:cNvSpPr txBox="1"/>
          <p:nvPr/>
        </p:nvSpPr>
        <p:spPr>
          <a:xfrm>
            <a:off x="822960" y="1234440"/>
            <a:ext cx="7315200" cy="365760"/>
          </a:xfrm>
          <a:prstGeom prst="rect">
            <a:avLst/>
          </a:prstGeom>
          <a:noFill/>
        </p:spPr>
        <p:txBody>
          <a:bodyPr wrap="square" lIns="0" tIns="0" rIns="0" bIns="0" rtlCol="0" anchor="ctr"/>
          <a:lstStyle/>
          <a:p>
            <a:pPr marL="0" indent="0">
              <a:buNone/>
            </a:pPr>
            <a:r>
              <a:rPr lang="en-US" sz="14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CLOUD &amp; DEVOPS  ·  PROJECT 6</a:t>
            </a:r>
            <a:endParaRPr lang="en-US" sz="1400" dirty="0"/>
          </a:p>
        </p:txBody>
      </p:sp>
      <p:sp>
        <p:nvSpPr>
          <p:cNvPr id="8" name="Text 6"/>
          <p:cNvSpPr txBox="1"/>
          <p:nvPr/>
        </p:nvSpPr>
        <p:spPr>
          <a:xfrm>
            <a:off x="777240" y="1645920"/>
            <a:ext cx="9601200" cy="1828800"/>
          </a:xfrm>
          <a:prstGeom prst="rect">
            <a:avLst/>
          </a:prstGeom>
          <a:noFill/>
        </p:spPr>
        <p:txBody>
          <a:bodyPr wrap="square" lIns="0" tIns="0" rIns="0" bIns="0" rtlCol="0" anchor="ctr"/>
          <a:lstStyle/>
          <a:p>
            <a:pPr marL="0" indent="0">
              <a:lnSpc>
                <a:spcPct val="105000"/>
              </a:lnSpc>
              <a:buNone/>
            </a:pPr>
            <a:r>
              <a:rPr lang="en-US" sz="3700" b="1" dirty="0">
                <a:solidFill>
                  <a:srgbClr val="FFFFFF"/>
                </a:solidFill>
                <a:latin typeface="Cambria" panose="02040503050406030204" pitchFamily="34" charset="0"/>
                <a:ea typeface="Cambria" panose="02040503050406030204" pitchFamily="34" charset="-122"/>
                <a:cs typeface="Cambria" panose="02040503050406030204" pitchFamily="34" charset="-120"/>
              </a:rPr>
              <a:t>Create EC2 Instances in Public and</a:t>
            </a:r>
            <a:endParaRPr lang="en-US" sz="3700" dirty="0"/>
          </a:p>
          <a:p>
            <a:pPr marL="0" indent="0">
              <a:lnSpc>
                <a:spcPct val="105000"/>
              </a:lnSpc>
              <a:buNone/>
            </a:pPr>
            <a:r>
              <a:rPr lang="en-US" sz="37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Private Subnets and Test Connectivity</a:t>
            </a:r>
            <a:endParaRPr lang="en-US" sz="3700" dirty="0"/>
          </a:p>
        </p:txBody>
      </p:sp>
      <p:sp>
        <p:nvSpPr>
          <p:cNvPr id="9" name="Shape 7"/>
          <p:cNvSpPr/>
          <p:nvPr/>
        </p:nvSpPr>
        <p:spPr>
          <a:xfrm>
            <a:off x="822960" y="3383280"/>
            <a:ext cx="1371600" cy="45720"/>
          </a:xfrm>
          <a:prstGeom prst="rect">
            <a:avLst/>
          </a:prstGeom>
          <a:solidFill>
            <a:srgbClr val="FF9900"/>
          </a:solidFill>
        </p:spPr>
      </p:sp>
      <p:sp>
        <p:nvSpPr>
          <p:cNvPr id="10" name="Text 8"/>
          <p:cNvSpPr txBox="1"/>
          <p:nvPr/>
        </p:nvSpPr>
        <p:spPr>
          <a:xfrm>
            <a:off x="822960" y="3566160"/>
            <a:ext cx="9692640" cy="73152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Launch one EC2 instance in a public subnet and another in a private subnet within the</a:t>
            </a:r>
            <a:endParaRPr lang="en-US" sz="1350" dirty="0"/>
          </a:p>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same custom VPC, then verify connectivity between them using their private IP addresses.</a:t>
            </a:r>
            <a:endParaRPr lang="en-US" sz="1350" dirty="0"/>
          </a:p>
        </p:txBody>
      </p:sp>
      <p:sp>
        <p:nvSpPr>
          <p:cNvPr id="11" name="Text 9"/>
          <p:cNvSpPr txBox="1"/>
          <p:nvPr/>
        </p:nvSpPr>
        <p:spPr>
          <a:xfrm>
            <a:off x="822960" y="4224528"/>
            <a:ext cx="9692640" cy="274320"/>
          </a:xfrm>
          <a:prstGeom prst="rect">
            <a:avLst/>
          </a:prstGeom>
          <a:noFill/>
        </p:spPr>
        <p:txBody>
          <a:bodyPr wrap="square" lIns="0" tIns="0" rIns="0" bIns="0" rtlCol="0" anchor="ctr"/>
          <a:lstStyle/>
          <a:p>
            <a:pPr marL="0" indent="0">
              <a:buNone/>
            </a:pPr>
            <a:r>
              <a:rPr lang="en-US" sz="1050" dirty="0">
                <a:solidFill>
                  <a:srgbClr val="7E93BE"/>
                </a:solidFill>
                <a:latin typeface="Calibri" panose="020F0502020204030204" pitchFamily="34" charset="0"/>
                <a:ea typeface="Calibri" panose="020F0502020204030204" pitchFamily="34" charset="-122"/>
                <a:cs typeface="Calibri" panose="020F0502020204030204" pitchFamily="34" charset="-120"/>
              </a:rPr>
              <a:t>AWS Account ID: 638596943163      Branch: Computer Science &amp; Engineering — Cloud &amp; DevOps</a:t>
            </a:r>
            <a:endParaRPr lang="en-US" sz="1050" dirty="0"/>
          </a:p>
        </p:txBody>
      </p:sp>
      <p:sp>
        <p:nvSpPr>
          <p:cNvPr id="12" name="Shape 10"/>
          <p:cNvSpPr/>
          <p:nvPr/>
        </p:nvSpPr>
        <p:spPr>
          <a:xfrm>
            <a:off x="822960" y="4937760"/>
            <a:ext cx="10515600" cy="1417320"/>
          </a:xfrm>
          <a:prstGeom prst="roundRect">
            <a:avLst>
              <a:gd name="adj" fmla="val 5161"/>
            </a:avLst>
          </a:prstGeom>
          <a:solidFill>
            <a:srgbClr val="1E2F4D"/>
          </a:solidFill>
          <a:ln w="9525">
            <a:solidFill>
              <a:srgbClr val="2C406B"/>
            </a:solidFill>
            <a:prstDash val="solid"/>
          </a:ln>
        </p:spPr>
      </p:sp>
      <p:sp>
        <p:nvSpPr>
          <p:cNvPr id="13" name="Text 11"/>
          <p:cNvSpPr txBox="1"/>
          <p:nvPr/>
        </p:nvSpPr>
        <p:spPr>
          <a:xfrm>
            <a:off x="1097280" y="5102352"/>
            <a:ext cx="1828800" cy="274320"/>
          </a:xfrm>
          <a:prstGeom prst="rect">
            <a:avLst/>
          </a:prstGeom>
          <a:noFill/>
        </p:spPr>
        <p:txBody>
          <a:bodyPr wrap="square" lIns="0" tIns="0" rIns="0" bIns="0" rtlCol="0" anchor="ctr"/>
          <a:lstStyle/>
          <a:p>
            <a:pPr marL="0" indent="0">
              <a:buNone/>
            </a:pPr>
            <a:r>
              <a:rPr lang="en-US" sz="11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TEAM</a:t>
            </a:r>
            <a:endParaRPr lang="en-US" sz="1100" dirty="0"/>
          </a:p>
        </p:txBody>
      </p:sp>
      <p:sp>
        <p:nvSpPr>
          <p:cNvPr id="14" name="Text 12"/>
          <p:cNvSpPr txBox="1"/>
          <p:nvPr/>
        </p:nvSpPr>
        <p:spPr>
          <a:xfrm>
            <a:off x="1005840" y="5394960"/>
            <a:ext cx="2354580" cy="320040"/>
          </a:xfrm>
          <a:prstGeom prst="rect">
            <a:avLst/>
          </a:prstGeom>
          <a:noFill/>
        </p:spPr>
        <p:txBody>
          <a:bodyPr wrap="square" lIns="0" tIns="0" rIns="0" bIns="0"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Prince</a:t>
            </a:r>
            <a:endParaRPr lang="en-US" sz="1500" dirty="0"/>
          </a:p>
        </p:txBody>
      </p:sp>
      <p:sp>
        <p:nvSpPr>
          <p:cNvPr id="15" name="Text 13"/>
          <p:cNvSpPr txBox="1"/>
          <p:nvPr/>
        </p:nvSpPr>
        <p:spPr>
          <a:xfrm>
            <a:off x="1005840" y="5715000"/>
            <a:ext cx="2354580" cy="274320"/>
          </a:xfrm>
          <a:prstGeom prst="rect">
            <a:avLst/>
          </a:prstGeom>
          <a:noFill/>
        </p:spPr>
        <p:txBody>
          <a:bodyPr wrap="square" lIns="0" tIns="0" rIns="0" bIns="0" rtlCol="0" anchor="ctr"/>
          <a:lstStyle/>
          <a:p>
            <a:pPr marL="0" indent="0">
              <a:buNone/>
            </a:pPr>
            <a:r>
              <a:rPr lang="en-US" sz="1100" b="1" dirty="0">
                <a:solidFill>
                  <a:srgbClr val="FF9900"/>
                </a:solidFill>
                <a:latin typeface="Calibri" panose="020F0502020204030204" pitchFamily="34" charset="0"/>
                <a:ea typeface="Calibri" panose="020F0502020204030204" pitchFamily="34" charset="-122"/>
                <a:cs typeface="Calibri" panose="020F0502020204030204" pitchFamily="34" charset="-120"/>
              </a:rPr>
              <a:t>Group Leader ★</a:t>
            </a:r>
            <a:endParaRPr lang="en-US" sz="1100" dirty="0"/>
          </a:p>
        </p:txBody>
      </p:sp>
      <p:sp>
        <p:nvSpPr>
          <p:cNvPr id="16" name="Text 14"/>
          <p:cNvSpPr txBox="1"/>
          <p:nvPr/>
        </p:nvSpPr>
        <p:spPr>
          <a:xfrm>
            <a:off x="1005840" y="5971032"/>
            <a:ext cx="2354580" cy="228600"/>
          </a:xfrm>
          <a:prstGeom prst="rect">
            <a:avLst/>
          </a:prstGeom>
          <a:noFill/>
        </p:spPr>
        <p:txBody>
          <a:bodyPr wrap="square" lIns="0" tIns="0" rIns="0" bIns="0" rtlCol="0" anchor="ctr"/>
          <a:lstStyle/>
          <a:p>
            <a:pPr marL="0" indent="0">
              <a:buNone/>
            </a:pPr>
            <a:r>
              <a:rPr lang="en-US" sz="950" dirty="0">
                <a:solidFill>
                  <a:srgbClr val="8FA3C8"/>
                </a:solidFill>
                <a:latin typeface="Calibri" panose="020F0502020204030204" pitchFamily="34" charset="0"/>
                <a:ea typeface="Calibri" panose="020F0502020204030204" pitchFamily="34" charset="-122"/>
                <a:cs typeface="Calibri" panose="020F0502020204030204" pitchFamily="34" charset="-120"/>
              </a:rPr>
              <a:t>2415001181</a:t>
            </a:r>
            <a:endParaRPr lang="en-US" sz="950" dirty="0"/>
          </a:p>
        </p:txBody>
      </p:sp>
      <p:sp>
        <p:nvSpPr>
          <p:cNvPr id="17" name="Text 15"/>
          <p:cNvSpPr txBox="1"/>
          <p:nvPr/>
        </p:nvSpPr>
        <p:spPr>
          <a:xfrm>
            <a:off x="3634740" y="5394960"/>
            <a:ext cx="2354580" cy="320040"/>
          </a:xfrm>
          <a:prstGeom prst="rect">
            <a:avLst/>
          </a:prstGeom>
          <a:noFill/>
        </p:spPr>
        <p:txBody>
          <a:bodyPr wrap="square" lIns="0" tIns="0" rIns="0" bIns="0"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Sohit Sharma</a:t>
            </a:r>
            <a:endParaRPr lang="en-US" sz="1500" dirty="0"/>
          </a:p>
        </p:txBody>
      </p:sp>
      <p:sp>
        <p:nvSpPr>
          <p:cNvPr id="18" name="Text 16"/>
          <p:cNvSpPr txBox="1"/>
          <p:nvPr/>
        </p:nvSpPr>
        <p:spPr>
          <a:xfrm>
            <a:off x="3634740" y="5715000"/>
            <a:ext cx="2354580" cy="27432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Member</a:t>
            </a:r>
            <a:endParaRPr lang="en-US" sz="1100" dirty="0"/>
          </a:p>
        </p:txBody>
      </p:sp>
      <p:sp>
        <p:nvSpPr>
          <p:cNvPr id="19" name="Text 17"/>
          <p:cNvSpPr txBox="1"/>
          <p:nvPr/>
        </p:nvSpPr>
        <p:spPr>
          <a:xfrm>
            <a:off x="3634740" y="5971032"/>
            <a:ext cx="2354580" cy="228600"/>
          </a:xfrm>
          <a:prstGeom prst="rect">
            <a:avLst/>
          </a:prstGeom>
          <a:noFill/>
        </p:spPr>
        <p:txBody>
          <a:bodyPr wrap="square" lIns="0" tIns="0" rIns="0" bIns="0" rtlCol="0" anchor="ctr"/>
          <a:lstStyle/>
          <a:p>
            <a:pPr marL="0" indent="0">
              <a:buNone/>
            </a:pPr>
            <a:r>
              <a:rPr lang="en-US" sz="950" dirty="0">
                <a:solidFill>
                  <a:srgbClr val="8FA3C8"/>
                </a:solidFill>
                <a:latin typeface="Calibri" panose="020F0502020204030204" pitchFamily="34" charset="0"/>
                <a:ea typeface="Calibri" panose="020F0502020204030204" pitchFamily="34" charset="-122"/>
                <a:cs typeface="Calibri" panose="020F0502020204030204" pitchFamily="34" charset="-120"/>
              </a:rPr>
              <a:t>2415001582</a:t>
            </a:r>
            <a:endParaRPr lang="en-US" sz="950" dirty="0"/>
          </a:p>
        </p:txBody>
      </p:sp>
      <p:sp>
        <p:nvSpPr>
          <p:cNvPr id="20" name="Shape 18"/>
          <p:cNvSpPr/>
          <p:nvPr/>
        </p:nvSpPr>
        <p:spPr>
          <a:xfrm>
            <a:off x="3451860" y="5120640"/>
            <a:ext cx="9144" cy="1051560"/>
          </a:xfrm>
          <a:prstGeom prst="rect">
            <a:avLst/>
          </a:prstGeom>
          <a:solidFill>
            <a:srgbClr val="2C4060"/>
          </a:solidFill>
        </p:spPr>
      </p:sp>
      <p:sp>
        <p:nvSpPr>
          <p:cNvPr id="21" name="Text 19"/>
          <p:cNvSpPr txBox="1"/>
          <p:nvPr/>
        </p:nvSpPr>
        <p:spPr>
          <a:xfrm>
            <a:off x="6263640" y="5394960"/>
            <a:ext cx="2354580" cy="320040"/>
          </a:xfrm>
          <a:prstGeom prst="rect">
            <a:avLst/>
          </a:prstGeom>
          <a:noFill/>
        </p:spPr>
        <p:txBody>
          <a:bodyPr wrap="square" lIns="0" tIns="0" rIns="0" bIns="0"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Mudit Chaudhary</a:t>
            </a:r>
            <a:endParaRPr lang="en-US" sz="1500" dirty="0"/>
          </a:p>
        </p:txBody>
      </p:sp>
      <p:sp>
        <p:nvSpPr>
          <p:cNvPr id="22" name="Text 20"/>
          <p:cNvSpPr txBox="1"/>
          <p:nvPr/>
        </p:nvSpPr>
        <p:spPr>
          <a:xfrm>
            <a:off x="6263640" y="5715000"/>
            <a:ext cx="2354580" cy="27432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Member</a:t>
            </a:r>
            <a:endParaRPr lang="en-US" sz="1100" dirty="0"/>
          </a:p>
        </p:txBody>
      </p:sp>
      <p:sp>
        <p:nvSpPr>
          <p:cNvPr id="23" name="Text 21"/>
          <p:cNvSpPr txBox="1"/>
          <p:nvPr/>
        </p:nvSpPr>
        <p:spPr>
          <a:xfrm>
            <a:off x="6263640" y="5971032"/>
            <a:ext cx="2354580" cy="228600"/>
          </a:xfrm>
          <a:prstGeom prst="rect">
            <a:avLst/>
          </a:prstGeom>
          <a:noFill/>
        </p:spPr>
        <p:txBody>
          <a:bodyPr wrap="square" lIns="0" tIns="0" rIns="0" bIns="0" rtlCol="0" anchor="ctr"/>
          <a:lstStyle/>
          <a:p>
            <a:pPr marL="0" indent="0">
              <a:buNone/>
            </a:pPr>
            <a:r>
              <a:rPr lang="en-US" sz="950" dirty="0">
                <a:solidFill>
                  <a:srgbClr val="8FA3C8"/>
                </a:solidFill>
                <a:latin typeface="Calibri" panose="020F0502020204030204" pitchFamily="34" charset="0"/>
                <a:ea typeface="Calibri" panose="020F0502020204030204" pitchFamily="34" charset="-122"/>
                <a:cs typeface="Calibri" panose="020F0502020204030204" pitchFamily="34" charset="-120"/>
              </a:rPr>
              <a:t>2415000995</a:t>
            </a:r>
            <a:endParaRPr lang="en-US" sz="950" dirty="0"/>
          </a:p>
        </p:txBody>
      </p:sp>
      <p:sp>
        <p:nvSpPr>
          <p:cNvPr id="24" name="Shape 22"/>
          <p:cNvSpPr/>
          <p:nvPr/>
        </p:nvSpPr>
        <p:spPr>
          <a:xfrm>
            <a:off x="6080760" y="5120640"/>
            <a:ext cx="9144" cy="1051560"/>
          </a:xfrm>
          <a:prstGeom prst="rect">
            <a:avLst/>
          </a:prstGeom>
          <a:solidFill>
            <a:srgbClr val="2C4060"/>
          </a:solidFill>
        </p:spPr>
      </p:sp>
      <p:sp>
        <p:nvSpPr>
          <p:cNvPr id="25" name="Text 23"/>
          <p:cNvSpPr txBox="1"/>
          <p:nvPr/>
        </p:nvSpPr>
        <p:spPr>
          <a:xfrm>
            <a:off x="8892540" y="5394960"/>
            <a:ext cx="2354580" cy="320040"/>
          </a:xfrm>
          <a:prstGeom prst="rect">
            <a:avLst/>
          </a:prstGeom>
          <a:noFill/>
        </p:spPr>
        <p:txBody>
          <a:bodyPr wrap="square" lIns="0" tIns="0" rIns="0" bIns="0"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Anshika Rai</a:t>
            </a:r>
            <a:endParaRPr lang="en-US" sz="1500" dirty="0"/>
          </a:p>
        </p:txBody>
      </p:sp>
      <p:sp>
        <p:nvSpPr>
          <p:cNvPr id="26" name="Text 24"/>
          <p:cNvSpPr txBox="1"/>
          <p:nvPr/>
        </p:nvSpPr>
        <p:spPr>
          <a:xfrm>
            <a:off x="8892540" y="5715000"/>
            <a:ext cx="2354580" cy="27432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Member</a:t>
            </a:r>
            <a:endParaRPr lang="en-US" sz="1100" dirty="0"/>
          </a:p>
        </p:txBody>
      </p:sp>
      <p:sp>
        <p:nvSpPr>
          <p:cNvPr id="27" name="Text 25"/>
          <p:cNvSpPr txBox="1"/>
          <p:nvPr/>
        </p:nvSpPr>
        <p:spPr>
          <a:xfrm>
            <a:off x="8892540" y="5971032"/>
            <a:ext cx="2354580" cy="228600"/>
          </a:xfrm>
          <a:prstGeom prst="rect">
            <a:avLst/>
          </a:prstGeom>
          <a:noFill/>
        </p:spPr>
        <p:txBody>
          <a:bodyPr wrap="square" lIns="0" tIns="0" rIns="0" bIns="0" rtlCol="0" anchor="ctr"/>
          <a:lstStyle/>
          <a:p>
            <a:pPr marL="0" indent="0">
              <a:buNone/>
            </a:pPr>
            <a:r>
              <a:rPr lang="en-US" sz="950" dirty="0">
                <a:solidFill>
                  <a:srgbClr val="8FA3C8"/>
                </a:solidFill>
                <a:latin typeface="Calibri" panose="020F0502020204030204" pitchFamily="34" charset="0"/>
                <a:ea typeface="Calibri" panose="020F0502020204030204" pitchFamily="34" charset="-122"/>
                <a:cs typeface="Calibri" panose="020F0502020204030204" pitchFamily="34" charset="-120"/>
              </a:rPr>
              <a:t>2415000261</a:t>
            </a:r>
            <a:endParaRPr lang="en-US" sz="950" dirty="0"/>
          </a:p>
        </p:txBody>
      </p:sp>
      <p:sp>
        <p:nvSpPr>
          <p:cNvPr id="28" name="Shape 26"/>
          <p:cNvSpPr/>
          <p:nvPr/>
        </p:nvSpPr>
        <p:spPr>
          <a:xfrm>
            <a:off x="8709660" y="5120640"/>
            <a:ext cx="9144" cy="1051560"/>
          </a:xfrm>
          <a:prstGeom prst="rect">
            <a:avLst/>
          </a:prstGeom>
          <a:solidFill>
            <a:srgbClr val="2C4060"/>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TEAM &amp; WORKFLOW</a:t>
            </a:r>
            <a:endParaRPr lang="en-US" sz="1200" dirty="0"/>
          </a:p>
        </p:txBody>
      </p:sp>
      <p:sp>
        <p:nvSpPr>
          <p:cNvPr id="3" name="Text 1"/>
          <p:cNvSpPr txBox="1"/>
          <p:nvPr/>
        </p:nvSpPr>
        <p:spPr>
          <a:xfrm>
            <a:off x="594360" y="777240"/>
            <a:ext cx="7315200" cy="640080"/>
          </a:xfrm>
          <a:prstGeom prst="rect">
            <a:avLst/>
          </a:prstGeom>
          <a:noFill/>
        </p:spPr>
        <p:txBody>
          <a:bodyPr wrap="square" lIns="0" tIns="0" rIns="0" bIns="0" rtlCol="0" anchor="ctr"/>
          <a:lstStyle/>
          <a:p>
            <a:pPr marL="0" indent="0">
              <a:buNone/>
            </a:pPr>
            <a:r>
              <a:rPr lang="en-US" sz="3200" b="1" dirty="0">
                <a:solidFill>
                  <a:srgbClr val="16213A"/>
                </a:solidFill>
                <a:latin typeface="Cambria" panose="02040503050406030204" pitchFamily="34" charset="0"/>
                <a:ea typeface="Cambria" panose="02040503050406030204" pitchFamily="34" charset="-122"/>
                <a:cs typeface="Cambria" panose="02040503050406030204" pitchFamily="34" charset="-120"/>
              </a:rPr>
              <a:t>Who Did What</a:t>
            </a:r>
            <a:endParaRPr lang="en-US" sz="3200" dirty="0"/>
          </a:p>
        </p:txBody>
      </p:sp>
      <p:sp>
        <p:nvSpPr>
          <p:cNvPr id="4" name="Text 2"/>
          <p:cNvSpPr txBox="1"/>
          <p:nvPr/>
        </p:nvSpPr>
        <p:spPr>
          <a:xfrm>
            <a:off x="621792" y="1371600"/>
            <a:ext cx="8229600" cy="320040"/>
          </a:xfrm>
          <a:prstGeom prst="rect">
            <a:avLst/>
          </a:prstGeom>
          <a:noFill/>
        </p:spPr>
        <p:txBody>
          <a:bodyPr wrap="square" lIns="0" tIns="0" rIns="0" bIns="0" rtlCol="0" anchor="ctr"/>
          <a:lstStyle/>
          <a:p>
            <a:pPr marL="0" indent="0">
              <a:buNone/>
            </a:pPr>
            <a:r>
              <a:rPr lang="en-US" sz="1300" dirty="0">
                <a:solidFill>
                  <a:srgbClr val="5A6B87"/>
                </a:solidFill>
                <a:latin typeface="Calibri" panose="020F0502020204030204" pitchFamily="34" charset="0"/>
                <a:ea typeface="Calibri" panose="020F0502020204030204" pitchFamily="34" charset="-122"/>
                <a:cs typeface="Calibri" panose="020F0502020204030204" pitchFamily="34" charset="-120"/>
              </a:rPr>
              <a:t>The build was split into four sequential phases across the team</a:t>
            </a:r>
            <a:endParaRPr lang="en-US" sz="1300" dirty="0"/>
          </a:p>
        </p:txBody>
      </p:sp>
      <p:sp>
        <p:nvSpPr>
          <p:cNvPr id="5" name="Shape 3"/>
          <p:cNvSpPr/>
          <p:nvPr/>
        </p:nvSpPr>
        <p:spPr>
          <a:xfrm>
            <a:off x="621792" y="1965960"/>
            <a:ext cx="2542032" cy="4160520"/>
          </a:xfrm>
          <a:prstGeom prst="roundRect">
            <a:avLst>
              <a:gd name="adj" fmla="val 3237"/>
            </a:avLst>
          </a:prstGeom>
          <a:solidFill>
            <a:srgbClr val="FFFFFF"/>
          </a:solidFill>
          <a:ln w="12700">
            <a:solidFill>
              <a:srgbClr val="DCE3F0"/>
            </a:solidFill>
            <a:prstDash val="solid"/>
          </a:ln>
          <a:effectLst>
            <a:outerShdw blurRad="101600" dist="38100" dir="5400000" algn="bl" rotWithShape="0">
              <a:srgbClr val="8CA0BF">
                <a:alpha val="28000"/>
              </a:srgbClr>
            </a:outerShdw>
          </a:effectLst>
        </p:spPr>
      </p:sp>
      <p:sp>
        <p:nvSpPr>
          <p:cNvPr id="6" name="Shape 4"/>
          <p:cNvSpPr/>
          <p:nvPr/>
        </p:nvSpPr>
        <p:spPr>
          <a:xfrm>
            <a:off x="621792" y="1965960"/>
            <a:ext cx="2542032" cy="310896"/>
          </a:xfrm>
          <a:prstGeom prst="roundRect">
            <a:avLst>
              <a:gd name="adj" fmla="val 26471"/>
            </a:avLst>
          </a:prstGeom>
          <a:solidFill>
            <a:srgbClr val="152238"/>
          </a:solidFill>
        </p:spPr>
      </p:sp>
      <p:sp>
        <p:nvSpPr>
          <p:cNvPr id="7" name="Text 5"/>
          <p:cNvSpPr txBox="1"/>
          <p:nvPr/>
        </p:nvSpPr>
        <p:spPr>
          <a:xfrm>
            <a:off x="621792" y="1965960"/>
            <a:ext cx="2542032" cy="310896"/>
          </a:xfrm>
          <a:prstGeom prst="rect">
            <a:avLst/>
          </a:prstGeom>
          <a:noFill/>
        </p:spPr>
        <p:txBody>
          <a:bodyPr wrap="square" lIns="0" tIns="0" rIns="0" bIns="0" rtlCol="0" anchor="ctr"/>
          <a:lstStyle/>
          <a:p>
            <a:pPr marL="0" indent="0" algn="ctr">
              <a:buNone/>
            </a:pPr>
            <a:r>
              <a:rPr lang="en-US" sz="1050" b="1" kern="0" spc="15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1</a:t>
            </a:r>
            <a:endParaRPr lang="en-US" sz="1050" dirty="0"/>
          </a:p>
        </p:txBody>
      </p:sp>
      <p:sp>
        <p:nvSpPr>
          <p:cNvPr id="8" name="Shape 6"/>
          <p:cNvSpPr/>
          <p:nvPr/>
        </p:nvSpPr>
        <p:spPr>
          <a:xfrm>
            <a:off x="1508760" y="2532888"/>
            <a:ext cx="768096" cy="768096"/>
          </a:xfrm>
          <a:prstGeom prst="ellipse">
            <a:avLst/>
          </a:prstGeom>
          <a:solidFill>
            <a:srgbClr val="152238"/>
          </a:solidFill>
        </p:spPr>
      </p:sp>
      <p:sp>
        <p:nvSpPr>
          <p:cNvPr id="9" name="Text 7"/>
          <p:cNvSpPr txBox="1"/>
          <p:nvPr/>
        </p:nvSpPr>
        <p:spPr>
          <a:xfrm>
            <a:off x="1508760" y="2532888"/>
            <a:ext cx="768096" cy="768096"/>
          </a:xfrm>
          <a:prstGeom prst="rect">
            <a:avLst/>
          </a:prstGeom>
          <a:noFill/>
        </p:spPr>
        <p:txBody>
          <a:bodyPr wrap="square" lIns="0" tIns="0" rIns="0" bIns="0" rtlCol="0" anchor="ctr"/>
          <a:lstStyle/>
          <a:p>
            <a:pPr marL="0" indent="0" algn="ctr">
              <a:buNone/>
            </a:pPr>
            <a:r>
              <a:rPr lang="en-US" sz="2185" b="1" dirty="0">
                <a:solidFill>
                  <a:srgbClr val="FFFFFF"/>
                </a:solidFill>
                <a:latin typeface="Cambria" panose="02040503050406030204" pitchFamily="34" charset="0"/>
                <a:ea typeface="Cambria" panose="02040503050406030204" pitchFamily="34" charset="-122"/>
                <a:cs typeface="Cambria" panose="02040503050406030204" pitchFamily="34" charset="-120"/>
              </a:rPr>
              <a:t>S</a:t>
            </a:r>
            <a:endParaRPr lang="en-US" sz="2185" dirty="0"/>
          </a:p>
        </p:txBody>
      </p:sp>
      <p:sp>
        <p:nvSpPr>
          <p:cNvPr id="10" name="Text 8"/>
          <p:cNvSpPr txBox="1"/>
          <p:nvPr/>
        </p:nvSpPr>
        <p:spPr>
          <a:xfrm>
            <a:off x="731520" y="3447288"/>
            <a:ext cx="2322576" cy="365760"/>
          </a:xfrm>
          <a:prstGeom prst="rect">
            <a:avLst/>
          </a:prstGeom>
          <a:noFill/>
        </p:spPr>
        <p:txBody>
          <a:bodyPr wrap="square" lIns="0" tIns="0" rIns="0" bIns="0" rtlCol="0" anchor="ctr"/>
          <a:lstStyle/>
          <a:p>
            <a:pPr marL="0" indent="0" algn="ctr">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Sohit Sharma</a:t>
            </a:r>
            <a:endParaRPr lang="en-US" sz="1450" dirty="0"/>
          </a:p>
        </p:txBody>
      </p:sp>
      <p:sp>
        <p:nvSpPr>
          <p:cNvPr id="11" name="Shape 9"/>
          <p:cNvSpPr/>
          <p:nvPr/>
        </p:nvSpPr>
        <p:spPr>
          <a:xfrm>
            <a:off x="1664208" y="3831336"/>
            <a:ext cx="457200" cy="20117"/>
          </a:xfrm>
          <a:prstGeom prst="rect">
            <a:avLst/>
          </a:prstGeom>
          <a:solidFill>
            <a:srgbClr val="CADCFC"/>
          </a:solidFill>
        </p:spPr>
      </p:sp>
      <p:sp>
        <p:nvSpPr>
          <p:cNvPr id="12" name="Text 10"/>
          <p:cNvSpPr txBox="1"/>
          <p:nvPr/>
        </p:nvSpPr>
        <p:spPr>
          <a:xfrm>
            <a:off x="804672" y="3959352"/>
            <a:ext cx="2176272" cy="457200"/>
          </a:xfrm>
          <a:prstGeom prst="rect">
            <a:avLst/>
          </a:prstGeom>
          <a:noFill/>
        </p:spPr>
        <p:txBody>
          <a:bodyPr wrap="square" lIns="0" tIns="0" rIns="0" bIns="0" rtlCol="0" anchor="ctr"/>
          <a:lstStyle/>
          <a:p>
            <a:pPr marL="0" indent="0" algn="ctr">
              <a:buNone/>
            </a:pPr>
            <a:r>
              <a:rPr lang="en-US" sz="1250" b="1" dirty="0">
                <a:solidFill>
                  <a:srgbClr val="152238"/>
                </a:solidFill>
                <a:latin typeface="Cambria" panose="02040503050406030204" pitchFamily="34" charset="0"/>
                <a:ea typeface="Cambria" panose="02040503050406030204" pitchFamily="34" charset="-122"/>
                <a:cs typeface="Cambria" panose="02040503050406030204" pitchFamily="34" charset="-120"/>
              </a:rPr>
              <a:t>VPC &amp; Subnet Setup</a:t>
            </a:r>
            <a:endParaRPr lang="en-US" sz="1250" dirty="0"/>
          </a:p>
        </p:txBody>
      </p:sp>
      <p:sp>
        <p:nvSpPr>
          <p:cNvPr id="13" name="Text 11"/>
          <p:cNvSpPr txBox="1"/>
          <p:nvPr/>
        </p:nvSpPr>
        <p:spPr>
          <a:xfrm>
            <a:off x="804672" y="4398264"/>
            <a:ext cx="2176272" cy="1097280"/>
          </a:xfrm>
          <a:prstGeom prst="rect">
            <a:avLst/>
          </a:prstGeom>
          <a:noFill/>
        </p:spPr>
        <p:txBody>
          <a:bodyPr wrap="square" lIns="0" tIns="0" rIns="0" bIns="0" rtlCol="0" anchor="ctr"/>
          <a:lstStyle/>
          <a:p>
            <a:pPr marL="0" indent="0" algn="ctr">
              <a:lnSpc>
                <a:spcPct val="115000"/>
              </a:lnSpc>
              <a:buNone/>
            </a:pPr>
            <a:r>
              <a:rPr lang="en-US" sz="1000" dirty="0">
                <a:solidFill>
                  <a:srgbClr val="5A6B87"/>
                </a:solidFill>
                <a:latin typeface="Calibri" panose="020F0502020204030204" pitchFamily="34" charset="0"/>
                <a:ea typeface="Calibri" panose="020F0502020204030204" pitchFamily="34" charset="-122"/>
                <a:cs typeface="Calibri" panose="020F0502020204030204" pitchFamily="34" charset="-120"/>
              </a:rPr>
              <a:t>Created the custom VPC (10.0.0.0/16) and carved out the public (10.0.1.0/24) and private (10.0.2.0/24) subnets.</a:t>
            </a:r>
            <a:endParaRPr lang="en-US" sz="1000" dirty="0"/>
          </a:p>
        </p:txBody>
      </p:sp>
      <p:sp>
        <p:nvSpPr>
          <p:cNvPr id="14" name="Shape 12"/>
          <p:cNvSpPr/>
          <p:nvPr/>
        </p:nvSpPr>
        <p:spPr>
          <a:xfrm>
            <a:off x="3364992" y="1965960"/>
            <a:ext cx="2542032" cy="4160520"/>
          </a:xfrm>
          <a:prstGeom prst="roundRect">
            <a:avLst>
              <a:gd name="adj" fmla="val 3237"/>
            </a:avLst>
          </a:prstGeom>
          <a:solidFill>
            <a:srgbClr val="FFFFFF"/>
          </a:solidFill>
          <a:ln w="12700">
            <a:solidFill>
              <a:srgbClr val="DCE3F0"/>
            </a:solidFill>
            <a:prstDash val="solid"/>
          </a:ln>
          <a:effectLst>
            <a:outerShdw blurRad="101600" dist="38100" dir="5400000" algn="bl" rotWithShape="0">
              <a:srgbClr val="8CA0BF">
                <a:alpha val="28000"/>
              </a:srgbClr>
            </a:outerShdw>
          </a:effectLst>
        </p:spPr>
      </p:sp>
      <p:sp>
        <p:nvSpPr>
          <p:cNvPr id="15" name="Shape 13"/>
          <p:cNvSpPr/>
          <p:nvPr/>
        </p:nvSpPr>
        <p:spPr>
          <a:xfrm>
            <a:off x="3364992" y="1965960"/>
            <a:ext cx="2542032" cy="310896"/>
          </a:xfrm>
          <a:prstGeom prst="roundRect">
            <a:avLst>
              <a:gd name="adj" fmla="val 26471"/>
            </a:avLst>
          </a:prstGeom>
          <a:solidFill>
            <a:srgbClr val="152238"/>
          </a:solidFill>
        </p:spPr>
      </p:sp>
      <p:sp>
        <p:nvSpPr>
          <p:cNvPr id="16" name="Text 14"/>
          <p:cNvSpPr txBox="1"/>
          <p:nvPr/>
        </p:nvSpPr>
        <p:spPr>
          <a:xfrm>
            <a:off x="3364992" y="1965960"/>
            <a:ext cx="2542032" cy="310896"/>
          </a:xfrm>
          <a:prstGeom prst="rect">
            <a:avLst/>
          </a:prstGeom>
          <a:noFill/>
        </p:spPr>
        <p:txBody>
          <a:bodyPr wrap="square" lIns="0" tIns="0" rIns="0" bIns="0" rtlCol="0" anchor="ctr"/>
          <a:lstStyle/>
          <a:p>
            <a:pPr marL="0" indent="0" algn="ctr">
              <a:buNone/>
            </a:pPr>
            <a:r>
              <a:rPr lang="en-US" sz="1050" b="1" kern="0" spc="15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2</a:t>
            </a:r>
            <a:endParaRPr lang="en-US" sz="1050" dirty="0"/>
          </a:p>
        </p:txBody>
      </p:sp>
      <p:sp>
        <p:nvSpPr>
          <p:cNvPr id="17" name="Shape 15"/>
          <p:cNvSpPr/>
          <p:nvPr/>
        </p:nvSpPr>
        <p:spPr>
          <a:xfrm>
            <a:off x="4251960" y="2532888"/>
            <a:ext cx="768096" cy="768096"/>
          </a:xfrm>
          <a:prstGeom prst="ellipse">
            <a:avLst/>
          </a:prstGeom>
          <a:solidFill>
            <a:srgbClr val="152238"/>
          </a:solidFill>
        </p:spPr>
      </p:sp>
      <p:sp>
        <p:nvSpPr>
          <p:cNvPr id="18" name="Text 16"/>
          <p:cNvSpPr txBox="1"/>
          <p:nvPr/>
        </p:nvSpPr>
        <p:spPr>
          <a:xfrm>
            <a:off x="4251960" y="2532888"/>
            <a:ext cx="768096" cy="768096"/>
          </a:xfrm>
          <a:prstGeom prst="rect">
            <a:avLst/>
          </a:prstGeom>
          <a:noFill/>
        </p:spPr>
        <p:txBody>
          <a:bodyPr wrap="square" lIns="0" tIns="0" rIns="0" bIns="0" rtlCol="0" anchor="ctr"/>
          <a:lstStyle/>
          <a:p>
            <a:pPr marL="0" indent="0" algn="ctr">
              <a:buNone/>
            </a:pPr>
            <a:r>
              <a:rPr lang="en-US" sz="2185" b="1" dirty="0">
                <a:solidFill>
                  <a:srgbClr val="FFFFFF"/>
                </a:solidFill>
                <a:latin typeface="Cambria" panose="02040503050406030204" pitchFamily="34" charset="0"/>
                <a:ea typeface="Cambria" panose="02040503050406030204" pitchFamily="34" charset="-122"/>
                <a:cs typeface="Cambria" panose="02040503050406030204" pitchFamily="34" charset="-120"/>
              </a:rPr>
              <a:t>M</a:t>
            </a:r>
            <a:endParaRPr lang="en-US" sz="2185" dirty="0"/>
          </a:p>
        </p:txBody>
      </p:sp>
      <p:sp>
        <p:nvSpPr>
          <p:cNvPr id="19" name="Text 17"/>
          <p:cNvSpPr txBox="1"/>
          <p:nvPr/>
        </p:nvSpPr>
        <p:spPr>
          <a:xfrm>
            <a:off x="3474720" y="3447288"/>
            <a:ext cx="2322576" cy="365760"/>
          </a:xfrm>
          <a:prstGeom prst="rect">
            <a:avLst/>
          </a:prstGeom>
          <a:noFill/>
        </p:spPr>
        <p:txBody>
          <a:bodyPr wrap="square" lIns="0" tIns="0" rIns="0" bIns="0" rtlCol="0" anchor="ctr"/>
          <a:lstStyle/>
          <a:p>
            <a:pPr marL="0" indent="0" algn="ctr">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Mudit Chaudhary</a:t>
            </a:r>
            <a:endParaRPr lang="en-US" sz="1450" dirty="0"/>
          </a:p>
        </p:txBody>
      </p:sp>
      <p:sp>
        <p:nvSpPr>
          <p:cNvPr id="20" name="Shape 18"/>
          <p:cNvSpPr/>
          <p:nvPr/>
        </p:nvSpPr>
        <p:spPr>
          <a:xfrm>
            <a:off x="4407408" y="3831336"/>
            <a:ext cx="457200" cy="20117"/>
          </a:xfrm>
          <a:prstGeom prst="rect">
            <a:avLst/>
          </a:prstGeom>
          <a:solidFill>
            <a:srgbClr val="CADCFC"/>
          </a:solidFill>
        </p:spPr>
      </p:sp>
      <p:sp>
        <p:nvSpPr>
          <p:cNvPr id="21" name="Text 19"/>
          <p:cNvSpPr txBox="1"/>
          <p:nvPr/>
        </p:nvSpPr>
        <p:spPr>
          <a:xfrm>
            <a:off x="3547872" y="3959352"/>
            <a:ext cx="2176272" cy="457200"/>
          </a:xfrm>
          <a:prstGeom prst="rect">
            <a:avLst/>
          </a:prstGeom>
          <a:noFill/>
        </p:spPr>
        <p:txBody>
          <a:bodyPr wrap="square" lIns="0" tIns="0" rIns="0" bIns="0" rtlCol="0" anchor="ctr"/>
          <a:lstStyle/>
          <a:p>
            <a:pPr marL="0" indent="0" algn="ctr">
              <a:buNone/>
            </a:pPr>
            <a:r>
              <a:rPr lang="en-US" sz="1250" b="1" dirty="0">
                <a:solidFill>
                  <a:srgbClr val="152238"/>
                </a:solidFill>
                <a:latin typeface="Cambria" panose="02040503050406030204" pitchFamily="34" charset="0"/>
                <a:ea typeface="Cambria" panose="02040503050406030204" pitchFamily="34" charset="-122"/>
                <a:cs typeface="Cambria" panose="02040503050406030204" pitchFamily="34" charset="-120"/>
              </a:rPr>
              <a:t>Gateway, Routing &amp; Security</a:t>
            </a:r>
            <a:endParaRPr lang="en-US" sz="1250" dirty="0"/>
          </a:p>
        </p:txBody>
      </p:sp>
      <p:sp>
        <p:nvSpPr>
          <p:cNvPr id="22" name="Text 20"/>
          <p:cNvSpPr txBox="1"/>
          <p:nvPr/>
        </p:nvSpPr>
        <p:spPr>
          <a:xfrm>
            <a:off x="3547872" y="4398264"/>
            <a:ext cx="2176272" cy="1097280"/>
          </a:xfrm>
          <a:prstGeom prst="rect">
            <a:avLst/>
          </a:prstGeom>
          <a:noFill/>
        </p:spPr>
        <p:txBody>
          <a:bodyPr wrap="square" lIns="0" tIns="0" rIns="0" bIns="0" rtlCol="0" anchor="ctr"/>
          <a:lstStyle/>
          <a:p>
            <a:pPr marL="0" indent="0" algn="ctr">
              <a:lnSpc>
                <a:spcPct val="115000"/>
              </a:lnSpc>
              <a:buNone/>
            </a:pPr>
            <a:r>
              <a:rPr lang="en-US" sz="1000" dirty="0">
                <a:solidFill>
                  <a:srgbClr val="5A6B87"/>
                </a:solidFill>
                <a:latin typeface="Calibri" panose="020F0502020204030204" pitchFamily="34" charset="0"/>
                <a:ea typeface="Calibri" panose="020F0502020204030204" pitchFamily="34" charset="-122"/>
                <a:cs typeface="Calibri" panose="020F0502020204030204" pitchFamily="34" charset="-120"/>
              </a:rPr>
              <a:t>Attached the Internet Gateway, configured public/private route tables, and set up the security groups.</a:t>
            </a:r>
            <a:endParaRPr lang="en-US" sz="1000" dirty="0"/>
          </a:p>
        </p:txBody>
      </p:sp>
      <p:sp>
        <p:nvSpPr>
          <p:cNvPr id="23" name="Shape 21"/>
          <p:cNvSpPr/>
          <p:nvPr/>
        </p:nvSpPr>
        <p:spPr>
          <a:xfrm>
            <a:off x="6108192" y="1965960"/>
            <a:ext cx="2542032" cy="4160520"/>
          </a:xfrm>
          <a:prstGeom prst="roundRect">
            <a:avLst>
              <a:gd name="adj" fmla="val 3237"/>
            </a:avLst>
          </a:prstGeom>
          <a:solidFill>
            <a:srgbClr val="FFFFFF"/>
          </a:solidFill>
          <a:ln w="19050">
            <a:solidFill>
              <a:srgbClr val="FF9900"/>
            </a:solidFill>
            <a:prstDash val="solid"/>
          </a:ln>
          <a:effectLst>
            <a:outerShdw blurRad="101600" dist="38100" dir="5400000" algn="bl" rotWithShape="0">
              <a:srgbClr val="8CA0BF">
                <a:alpha val="28000"/>
              </a:srgbClr>
            </a:outerShdw>
          </a:effectLst>
        </p:spPr>
      </p:sp>
      <p:sp>
        <p:nvSpPr>
          <p:cNvPr id="24" name="Shape 22"/>
          <p:cNvSpPr/>
          <p:nvPr/>
        </p:nvSpPr>
        <p:spPr>
          <a:xfrm>
            <a:off x="6108192" y="1965960"/>
            <a:ext cx="2542032" cy="310896"/>
          </a:xfrm>
          <a:prstGeom prst="roundRect">
            <a:avLst>
              <a:gd name="adj" fmla="val 26471"/>
            </a:avLst>
          </a:prstGeom>
          <a:solidFill>
            <a:srgbClr val="FF9900"/>
          </a:solidFill>
        </p:spPr>
      </p:sp>
      <p:sp>
        <p:nvSpPr>
          <p:cNvPr id="25" name="Text 23"/>
          <p:cNvSpPr txBox="1"/>
          <p:nvPr/>
        </p:nvSpPr>
        <p:spPr>
          <a:xfrm>
            <a:off x="6108192" y="1965960"/>
            <a:ext cx="2542032" cy="310896"/>
          </a:xfrm>
          <a:prstGeom prst="rect">
            <a:avLst/>
          </a:prstGeom>
          <a:noFill/>
        </p:spPr>
        <p:txBody>
          <a:bodyPr wrap="square" lIns="0" tIns="0" rIns="0" bIns="0" rtlCol="0" anchor="ctr"/>
          <a:lstStyle/>
          <a:p>
            <a:pPr marL="0" indent="0" algn="ctr">
              <a:buNone/>
            </a:pPr>
            <a:r>
              <a:rPr lang="en-US" sz="1050" b="1" kern="0" spc="15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3</a:t>
            </a:r>
            <a:endParaRPr lang="en-US" sz="1050" dirty="0"/>
          </a:p>
        </p:txBody>
      </p:sp>
      <p:sp>
        <p:nvSpPr>
          <p:cNvPr id="26" name="Shape 24"/>
          <p:cNvSpPr/>
          <p:nvPr/>
        </p:nvSpPr>
        <p:spPr>
          <a:xfrm>
            <a:off x="6995160" y="2532888"/>
            <a:ext cx="768096" cy="768096"/>
          </a:xfrm>
          <a:prstGeom prst="ellipse">
            <a:avLst/>
          </a:prstGeom>
          <a:solidFill>
            <a:srgbClr val="2F3C7E"/>
          </a:solidFill>
        </p:spPr>
      </p:sp>
      <p:sp>
        <p:nvSpPr>
          <p:cNvPr id="27" name="Text 25"/>
          <p:cNvSpPr txBox="1"/>
          <p:nvPr/>
        </p:nvSpPr>
        <p:spPr>
          <a:xfrm>
            <a:off x="6995160" y="2532888"/>
            <a:ext cx="768096" cy="768096"/>
          </a:xfrm>
          <a:prstGeom prst="rect">
            <a:avLst/>
          </a:prstGeom>
          <a:noFill/>
        </p:spPr>
        <p:txBody>
          <a:bodyPr wrap="square" lIns="0" tIns="0" rIns="0" bIns="0" rtlCol="0" anchor="ctr"/>
          <a:lstStyle/>
          <a:p>
            <a:pPr marL="0" indent="0" algn="ctr">
              <a:buNone/>
            </a:pPr>
            <a:r>
              <a:rPr lang="en-US" sz="2185"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endParaRPr lang="en-US" sz="2185" dirty="0"/>
          </a:p>
        </p:txBody>
      </p:sp>
      <p:sp>
        <p:nvSpPr>
          <p:cNvPr id="28" name="Text 26"/>
          <p:cNvSpPr txBox="1"/>
          <p:nvPr/>
        </p:nvSpPr>
        <p:spPr>
          <a:xfrm>
            <a:off x="6217920" y="3447288"/>
            <a:ext cx="2322576" cy="365760"/>
          </a:xfrm>
          <a:prstGeom prst="rect">
            <a:avLst/>
          </a:prstGeom>
          <a:noFill/>
        </p:spPr>
        <p:txBody>
          <a:bodyPr wrap="square" lIns="0" tIns="0" rIns="0" bIns="0" rtlCol="0" anchor="ctr"/>
          <a:lstStyle/>
          <a:p>
            <a:pPr marL="0" indent="0" algn="ctr">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Prince</a:t>
            </a:r>
            <a:endParaRPr lang="en-US" sz="1450" dirty="0"/>
          </a:p>
        </p:txBody>
      </p:sp>
      <p:sp>
        <p:nvSpPr>
          <p:cNvPr id="29" name="Text 27"/>
          <p:cNvSpPr txBox="1"/>
          <p:nvPr/>
        </p:nvSpPr>
        <p:spPr>
          <a:xfrm>
            <a:off x="6217920" y="3794760"/>
            <a:ext cx="2322576" cy="237744"/>
          </a:xfrm>
          <a:prstGeom prst="rect">
            <a:avLst/>
          </a:prstGeom>
          <a:noFill/>
        </p:spPr>
        <p:txBody>
          <a:bodyPr wrap="square" lIns="0" tIns="0" rIns="0" bIns="0" rtlCol="0" anchor="ctr"/>
          <a:lstStyle/>
          <a:p>
            <a:pPr marL="0" indent="0" algn="ctr">
              <a:buNone/>
            </a:pPr>
            <a:r>
              <a:rPr lang="en-US" sz="1000" b="1" dirty="0">
                <a:solidFill>
                  <a:srgbClr val="FF9900"/>
                </a:solidFill>
                <a:latin typeface="Calibri" panose="020F0502020204030204" pitchFamily="34" charset="0"/>
                <a:ea typeface="Calibri" panose="020F0502020204030204" pitchFamily="34" charset="-122"/>
                <a:cs typeface="Calibri" panose="020F0502020204030204" pitchFamily="34" charset="-120"/>
              </a:rPr>
              <a:t>Group Leader</a:t>
            </a:r>
            <a:endParaRPr lang="en-US" sz="1000" dirty="0"/>
          </a:p>
        </p:txBody>
      </p:sp>
      <p:sp>
        <p:nvSpPr>
          <p:cNvPr id="30" name="Shape 28"/>
          <p:cNvSpPr/>
          <p:nvPr/>
        </p:nvSpPr>
        <p:spPr>
          <a:xfrm>
            <a:off x="7150608" y="4069080"/>
            <a:ext cx="457200" cy="20117"/>
          </a:xfrm>
          <a:prstGeom prst="rect">
            <a:avLst/>
          </a:prstGeom>
          <a:solidFill>
            <a:srgbClr val="CADCFC"/>
          </a:solidFill>
        </p:spPr>
      </p:sp>
      <p:sp>
        <p:nvSpPr>
          <p:cNvPr id="31" name="Text 29"/>
          <p:cNvSpPr txBox="1"/>
          <p:nvPr/>
        </p:nvSpPr>
        <p:spPr>
          <a:xfrm>
            <a:off x="6291072" y="4197096"/>
            <a:ext cx="2176272" cy="457200"/>
          </a:xfrm>
          <a:prstGeom prst="rect">
            <a:avLst/>
          </a:prstGeom>
          <a:noFill/>
        </p:spPr>
        <p:txBody>
          <a:bodyPr wrap="square" lIns="0" tIns="0" rIns="0" bIns="0" rtlCol="0" anchor="ctr"/>
          <a:lstStyle/>
          <a:p>
            <a:pPr marL="0" indent="0" algn="ctr">
              <a:buNone/>
            </a:pPr>
            <a:r>
              <a:rPr lang="en-US" sz="1250" b="1" dirty="0">
                <a:solidFill>
                  <a:srgbClr val="152238"/>
                </a:solidFill>
                <a:latin typeface="Cambria" panose="02040503050406030204" pitchFamily="34" charset="0"/>
                <a:ea typeface="Cambria" panose="02040503050406030204" pitchFamily="34" charset="-122"/>
                <a:cs typeface="Cambria" panose="02040503050406030204" pitchFamily="34" charset="-120"/>
              </a:rPr>
              <a:t>EC2 Instance Deployment</a:t>
            </a:r>
            <a:endParaRPr lang="en-US" sz="1250" dirty="0"/>
          </a:p>
        </p:txBody>
      </p:sp>
      <p:sp>
        <p:nvSpPr>
          <p:cNvPr id="32" name="Text 30"/>
          <p:cNvSpPr txBox="1"/>
          <p:nvPr/>
        </p:nvSpPr>
        <p:spPr>
          <a:xfrm>
            <a:off x="6291072" y="4636008"/>
            <a:ext cx="2176272" cy="1097280"/>
          </a:xfrm>
          <a:prstGeom prst="rect">
            <a:avLst/>
          </a:prstGeom>
          <a:noFill/>
        </p:spPr>
        <p:txBody>
          <a:bodyPr wrap="square" lIns="0" tIns="0" rIns="0" bIns="0" rtlCol="0" anchor="ctr"/>
          <a:lstStyle/>
          <a:p>
            <a:pPr marL="0" indent="0" algn="ctr">
              <a:lnSpc>
                <a:spcPct val="115000"/>
              </a:lnSpc>
              <a:buNone/>
            </a:pPr>
            <a:r>
              <a:rPr lang="en-US" sz="1000" dirty="0">
                <a:solidFill>
                  <a:srgbClr val="5A6B87"/>
                </a:solidFill>
                <a:latin typeface="Calibri" panose="020F0502020204030204" pitchFamily="34" charset="0"/>
                <a:ea typeface="Calibri" panose="020F0502020204030204" pitchFamily="34" charset="-122"/>
                <a:cs typeface="Calibri" panose="020F0502020204030204" pitchFamily="34" charset="-120"/>
              </a:rPr>
              <a:t>Launched the public and private EC2 instances with the correct subnet, IP, and security group settings.</a:t>
            </a:r>
            <a:endParaRPr lang="en-US" sz="1000" dirty="0"/>
          </a:p>
        </p:txBody>
      </p:sp>
      <p:sp>
        <p:nvSpPr>
          <p:cNvPr id="33" name="Shape 31"/>
          <p:cNvSpPr/>
          <p:nvPr/>
        </p:nvSpPr>
        <p:spPr>
          <a:xfrm>
            <a:off x="8851392" y="1965960"/>
            <a:ext cx="2542032" cy="4160520"/>
          </a:xfrm>
          <a:prstGeom prst="roundRect">
            <a:avLst>
              <a:gd name="adj" fmla="val 3237"/>
            </a:avLst>
          </a:prstGeom>
          <a:solidFill>
            <a:srgbClr val="FFFFFF"/>
          </a:solidFill>
          <a:ln w="12700">
            <a:solidFill>
              <a:srgbClr val="DCE3F0"/>
            </a:solidFill>
            <a:prstDash val="solid"/>
          </a:ln>
          <a:effectLst>
            <a:outerShdw blurRad="101600" dist="38100" dir="5400000" algn="bl" rotWithShape="0">
              <a:srgbClr val="8CA0BF">
                <a:alpha val="28000"/>
              </a:srgbClr>
            </a:outerShdw>
          </a:effectLst>
        </p:spPr>
      </p:sp>
      <p:sp>
        <p:nvSpPr>
          <p:cNvPr id="34" name="Shape 32"/>
          <p:cNvSpPr/>
          <p:nvPr/>
        </p:nvSpPr>
        <p:spPr>
          <a:xfrm>
            <a:off x="8851392" y="1965960"/>
            <a:ext cx="2542032" cy="310896"/>
          </a:xfrm>
          <a:prstGeom prst="roundRect">
            <a:avLst>
              <a:gd name="adj" fmla="val 26471"/>
            </a:avLst>
          </a:prstGeom>
          <a:solidFill>
            <a:srgbClr val="152238"/>
          </a:solidFill>
        </p:spPr>
      </p:sp>
      <p:sp>
        <p:nvSpPr>
          <p:cNvPr id="35" name="Text 33"/>
          <p:cNvSpPr txBox="1"/>
          <p:nvPr/>
        </p:nvSpPr>
        <p:spPr>
          <a:xfrm>
            <a:off x="8851392" y="1965960"/>
            <a:ext cx="2542032" cy="310896"/>
          </a:xfrm>
          <a:prstGeom prst="rect">
            <a:avLst/>
          </a:prstGeom>
          <a:noFill/>
        </p:spPr>
        <p:txBody>
          <a:bodyPr wrap="square" lIns="0" tIns="0" rIns="0" bIns="0" rtlCol="0" anchor="ctr"/>
          <a:lstStyle/>
          <a:p>
            <a:pPr marL="0" indent="0" algn="ctr">
              <a:buNone/>
            </a:pPr>
            <a:r>
              <a:rPr lang="en-US" sz="1050" b="1" kern="0" spc="15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4</a:t>
            </a:r>
            <a:endParaRPr lang="en-US" sz="1050" dirty="0"/>
          </a:p>
        </p:txBody>
      </p:sp>
      <p:sp>
        <p:nvSpPr>
          <p:cNvPr id="36" name="Shape 34"/>
          <p:cNvSpPr/>
          <p:nvPr/>
        </p:nvSpPr>
        <p:spPr>
          <a:xfrm>
            <a:off x="9738360" y="2532888"/>
            <a:ext cx="768096" cy="768096"/>
          </a:xfrm>
          <a:prstGeom prst="ellipse">
            <a:avLst/>
          </a:prstGeom>
          <a:solidFill>
            <a:srgbClr val="152238"/>
          </a:solidFill>
        </p:spPr>
      </p:sp>
      <p:sp>
        <p:nvSpPr>
          <p:cNvPr id="37" name="Text 35"/>
          <p:cNvSpPr txBox="1"/>
          <p:nvPr/>
        </p:nvSpPr>
        <p:spPr>
          <a:xfrm>
            <a:off x="9738360" y="2532888"/>
            <a:ext cx="768096" cy="768096"/>
          </a:xfrm>
          <a:prstGeom prst="rect">
            <a:avLst/>
          </a:prstGeom>
          <a:noFill/>
        </p:spPr>
        <p:txBody>
          <a:bodyPr wrap="square" lIns="0" tIns="0" rIns="0" bIns="0" rtlCol="0" anchor="ctr"/>
          <a:lstStyle/>
          <a:p>
            <a:pPr marL="0" indent="0" algn="ctr">
              <a:buNone/>
            </a:pPr>
            <a:r>
              <a:rPr lang="en-US" sz="2185" b="1" dirty="0">
                <a:solidFill>
                  <a:srgbClr val="FFFFFF"/>
                </a:solidFill>
                <a:latin typeface="Cambria" panose="02040503050406030204" pitchFamily="34" charset="0"/>
                <a:ea typeface="Cambria" panose="02040503050406030204" pitchFamily="34" charset="-122"/>
                <a:cs typeface="Cambria" panose="02040503050406030204" pitchFamily="34" charset="-120"/>
              </a:rPr>
              <a:t>A</a:t>
            </a:r>
            <a:endParaRPr lang="en-US" sz="2185" dirty="0"/>
          </a:p>
        </p:txBody>
      </p:sp>
      <p:sp>
        <p:nvSpPr>
          <p:cNvPr id="38" name="Text 36"/>
          <p:cNvSpPr txBox="1"/>
          <p:nvPr/>
        </p:nvSpPr>
        <p:spPr>
          <a:xfrm>
            <a:off x="8961120" y="3447288"/>
            <a:ext cx="2322576" cy="365760"/>
          </a:xfrm>
          <a:prstGeom prst="rect">
            <a:avLst/>
          </a:prstGeom>
          <a:noFill/>
        </p:spPr>
        <p:txBody>
          <a:bodyPr wrap="square" lIns="0" tIns="0" rIns="0" bIns="0" rtlCol="0" anchor="ctr"/>
          <a:lstStyle/>
          <a:p>
            <a:pPr marL="0" indent="0" algn="ctr">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Anshika Rai</a:t>
            </a:r>
            <a:endParaRPr lang="en-US" sz="1450" dirty="0"/>
          </a:p>
        </p:txBody>
      </p:sp>
      <p:sp>
        <p:nvSpPr>
          <p:cNvPr id="39" name="Shape 37"/>
          <p:cNvSpPr/>
          <p:nvPr/>
        </p:nvSpPr>
        <p:spPr>
          <a:xfrm>
            <a:off x="9893808" y="3831336"/>
            <a:ext cx="457200" cy="20117"/>
          </a:xfrm>
          <a:prstGeom prst="rect">
            <a:avLst/>
          </a:prstGeom>
          <a:solidFill>
            <a:srgbClr val="CADCFC"/>
          </a:solidFill>
        </p:spPr>
      </p:sp>
      <p:sp>
        <p:nvSpPr>
          <p:cNvPr id="40" name="Text 38"/>
          <p:cNvSpPr txBox="1"/>
          <p:nvPr/>
        </p:nvSpPr>
        <p:spPr>
          <a:xfrm>
            <a:off x="9034272" y="3959352"/>
            <a:ext cx="2176272" cy="457200"/>
          </a:xfrm>
          <a:prstGeom prst="rect">
            <a:avLst/>
          </a:prstGeom>
          <a:noFill/>
        </p:spPr>
        <p:txBody>
          <a:bodyPr wrap="square" lIns="0" tIns="0" rIns="0" bIns="0" rtlCol="0" anchor="ctr"/>
          <a:lstStyle/>
          <a:p>
            <a:pPr marL="0" indent="0" algn="ctr">
              <a:buNone/>
            </a:pPr>
            <a:r>
              <a:rPr lang="en-US" sz="1250" b="1" dirty="0">
                <a:solidFill>
                  <a:srgbClr val="152238"/>
                </a:solidFill>
                <a:latin typeface="Cambria" panose="02040503050406030204" pitchFamily="34" charset="0"/>
                <a:ea typeface="Cambria" panose="02040503050406030204" pitchFamily="34" charset="-122"/>
                <a:cs typeface="Cambria" panose="02040503050406030204" pitchFamily="34" charset="-120"/>
              </a:rPr>
              <a:t>Connectivity Testing</a:t>
            </a:r>
            <a:endParaRPr lang="en-US" sz="1250" dirty="0"/>
          </a:p>
        </p:txBody>
      </p:sp>
      <p:sp>
        <p:nvSpPr>
          <p:cNvPr id="41" name="Text 39"/>
          <p:cNvSpPr txBox="1"/>
          <p:nvPr/>
        </p:nvSpPr>
        <p:spPr>
          <a:xfrm>
            <a:off x="9034272" y="4398264"/>
            <a:ext cx="2176272" cy="1097280"/>
          </a:xfrm>
          <a:prstGeom prst="rect">
            <a:avLst/>
          </a:prstGeom>
          <a:noFill/>
        </p:spPr>
        <p:txBody>
          <a:bodyPr wrap="square" lIns="0" tIns="0" rIns="0" bIns="0" rtlCol="0" anchor="ctr"/>
          <a:lstStyle/>
          <a:p>
            <a:pPr marL="0" indent="0" algn="ctr">
              <a:lnSpc>
                <a:spcPct val="115000"/>
              </a:lnSpc>
              <a:buNone/>
            </a:pPr>
            <a:r>
              <a:rPr lang="en-US" sz="1000" dirty="0">
                <a:solidFill>
                  <a:srgbClr val="5A6B87"/>
                </a:solidFill>
                <a:latin typeface="Calibri" panose="020F0502020204030204" pitchFamily="34" charset="0"/>
                <a:ea typeface="Calibri" panose="020F0502020204030204" pitchFamily="34" charset="-122"/>
                <a:cs typeface="Calibri" panose="020F0502020204030204" pitchFamily="34" charset="-120"/>
              </a:rPr>
              <a:t>Connected to the public instance via SSH and verified connectivity to the private instance using ping.</a:t>
            </a:r>
            <a:endParaRPr lang="en-US" sz="1000" dirty="0"/>
          </a:p>
        </p:txBody>
      </p:sp>
      <p:sp>
        <p:nvSpPr>
          <p:cNvPr id="42" name="Text 40"/>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43" name="Text 41"/>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AIM</a:t>
            </a:r>
            <a:endParaRPr lang="en-US" sz="1200" dirty="0"/>
          </a:p>
        </p:txBody>
      </p:sp>
      <p:sp>
        <p:nvSpPr>
          <p:cNvPr id="3" name="Text 1"/>
          <p:cNvSpPr txBox="1"/>
          <p:nvPr/>
        </p:nvSpPr>
        <p:spPr>
          <a:xfrm>
            <a:off x="594360" y="777240"/>
            <a:ext cx="8229600" cy="640080"/>
          </a:xfrm>
          <a:prstGeom prst="rect">
            <a:avLst/>
          </a:prstGeom>
          <a:noFill/>
        </p:spPr>
        <p:txBody>
          <a:bodyPr wrap="square" lIns="0" tIns="0" rIns="0" bIns="0" rtlCol="0" anchor="ctr"/>
          <a:lstStyle/>
          <a:p>
            <a:pPr marL="0" indent="0">
              <a:buNone/>
            </a:pPr>
            <a:r>
              <a:rPr lang="en-US" sz="3200" b="1" dirty="0">
                <a:solidFill>
                  <a:srgbClr val="16213A"/>
                </a:solidFill>
                <a:latin typeface="Cambria" panose="02040503050406030204" pitchFamily="34" charset="0"/>
                <a:ea typeface="Cambria" panose="02040503050406030204" pitchFamily="34" charset="-122"/>
                <a:cs typeface="Cambria" panose="02040503050406030204" pitchFamily="34" charset="-120"/>
              </a:rPr>
              <a:t>Aim &amp; Prerequisites</a:t>
            </a:r>
            <a:endParaRPr lang="en-US" sz="3200" dirty="0"/>
          </a:p>
        </p:txBody>
      </p:sp>
      <p:sp>
        <p:nvSpPr>
          <p:cNvPr id="4" name="Shape 2"/>
          <p:cNvSpPr/>
          <p:nvPr/>
        </p:nvSpPr>
        <p:spPr>
          <a:xfrm>
            <a:off x="621792" y="1691640"/>
            <a:ext cx="10927080" cy="1143000"/>
          </a:xfrm>
          <a:prstGeom prst="roundRect">
            <a:avLst>
              <a:gd name="adj" fmla="val 6400"/>
            </a:avLst>
          </a:prstGeom>
          <a:solidFill>
            <a:srgbClr val="152238"/>
          </a:solidFill>
        </p:spPr>
      </p:sp>
      <p:sp>
        <p:nvSpPr>
          <p:cNvPr id="5" name="Text 3"/>
          <p:cNvSpPr txBox="1"/>
          <p:nvPr/>
        </p:nvSpPr>
        <p:spPr>
          <a:xfrm>
            <a:off x="896112" y="1828800"/>
            <a:ext cx="1828800" cy="274320"/>
          </a:xfrm>
          <a:prstGeom prst="rect">
            <a:avLst/>
          </a:prstGeom>
          <a:noFill/>
        </p:spPr>
        <p:txBody>
          <a:bodyPr wrap="square" lIns="0" tIns="0" rIns="0" bIns="0" rtlCol="0" anchor="ctr"/>
          <a:lstStyle/>
          <a:p>
            <a:pPr marL="0" indent="0">
              <a:buNone/>
            </a:pPr>
            <a:r>
              <a:rPr lang="en-US" sz="11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AIM</a:t>
            </a:r>
            <a:endParaRPr lang="en-US" sz="1100" dirty="0"/>
          </a:p>
        </p:txBody>
      </p:sp>
      <p:sp>
        <p:nvSpPr>
          <p:cNvPr id="6" name="Text 4"/>
          <p:cNvSpPr txBox="1"/>
          <p:nvPr/>
        </p:nvSpPr>
        <p:spPr>
          <a:xfrm>
            <a:off x="896112" y="2103120"/>
            <a:ext cx="10378440" cy="640080"/>
          </a:xfrm>
          <a:prstGeom prst="rect">
            <a:avLst/>
          </a:prstGeom>
          <a:noFill/>
        </p:spPr>
        <p:txBody>
          <a:bodyPr wrap="square" lIns="0" tIns="0" rIns="0" bIns="0" rtlCol="0" anchor="ctr"/>
          <a:lstStyle/>
          <a:p>
            <a:pPr marL="0" indent="0">
              <a:lnSpc>
                <a:spcPct val="120000"/>
              </a:lnSpc>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To launch one Amazon EC2 instance in a Public Subnet and another in a Private Subnet within the same VPC, and verify network connectivity between them using their private IP addresses.</a:t>
            </a:r>
            <a:endParaRPr lang="en-US" sz="1300" dirty="0"/>
          </a:p>
        </p:txBody>
      </p:sp>
      <p:sp>
        <p:nvSpPr>
          <p:cNvPr id="7" name="Text 5"/>
          <p:cNvSpPr txBox="1"/>
          <p:nvPr/>
        </p:nvSpPr>
        <p:spPr>
          <a:xfrm>
            <a:off x="621792" y="3063240"/>
            <a:ext cx="36576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PREREQUISITES</a:t>
            </a:r>
            <a:endParaRPr lang="en-US" sz="1200" dirty="0"/>
          </a:p>
        </p:txBody>
      </p:sp>
      <p:sp>
        <p:nvSpPr>
          <p:cNvPr id="8" name="Shape 6"/>
          <p:cNvSpPr/>
          <p:nvPr/>
        </p:nvSpPr>
        <p:spPr>
          <a:xfrm>
            <a:off x="621792" y="3429000"/>
            <a:ext cx="384048" cy="384048"/>
          </a:xfrm>
          <a:prstGeom prst="ellipse">
            <a:avLst/>
          </a:prstGeom>
          <a:solidFill>
            <a:srgbClr val="CADCFC"/>
          </a:solidFill>
        </p:spPr>
      </p:sp>
      <p:sp>
        <p:nvSpPr>
          <p:cNvPr id="9" name="Text 7"/>
          <p:cNvSpPr txBox="1"/>
          <p:nvPr/>
        </p:nvSpPr>
        <p:spPr>
          <a:xfrm>
            <a:off x="621792" y="3429000"/>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10" name="Text 8"/>
          <p:cNvSpPr txBox="1"/>
          <p:nvPr/>
        </p:nvSpPr>
        <p:spPr>
          <a:xfrm>
            <a:off x="1152144" y="3410712"/>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AWS Account</a:t>
            </a:r>
            <a:endParaRPr lang="en-US" sz="1300" dirty="0"/>
          </a:p>
        </p:txBody>
      </p:sp>
      <p:sp>
        <p:nvSpPr>
          <p:cNvPr id="11" name="Shape 9"/>
          <p:cNvSpPr/>
          <p:nvPr/>
        </p:nvSpPr>
        <p:spPr>
          <a:xfrm>
            <a:off x="6291072" y="3429000"/>
            <a:ext cx="384048" cy="384048"/>
          </a:xfrm>
          <a:prstGeom prst="ellipse">
            <a:avLst/>
          </a:prstGeom>
          <a:solidFill>
            <a:srgbClr val="CADCFC"/>
          </a:solidFill>
        </p:spPr>
      </p:sp>
      <p:sp>
        <p:nvSpPr>
          <p:cNvPr id="12" name="Text 10"/>
          <p:cNvSpPr txBox="1"/>
          <p:nvPr/>
        </p:nvSpPr>
        <p:spPr>
          <a:xfrm>
            <a:off x="6291072" y="3429000"/>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13" name="Text 11"/>
          <p:cNvSpPr txBox="1"/>
          <p:nvPr/>
        </p:nvSpPr>
        <p:spPr>
          <a:xfrm>
            <a:off x="6821424" y="3410712"/>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IAM User with EC2 and VPC permissions (or Root User)</a:t>
            </a:r>
            <a:endParaRPr lang="en-US" sz="1300" dirty="0"/>
          </a:p>
        </p:txBody>
      </p:sp>
      <p:sp>
        <p:nvSpPr>
          <p:cNvPr id="14" name="Shape 12"/>
          <p:cNvSpPr/>
          <p:nvPr/>
        </p:nvSpPr>
        <p:spPr>
          <a:xfrm>
            <a:off x="621792" y="4087368"/>
            <a:ext cx="384048" cy="384048"/>
          </a:xfrm>
          <a:prstGeom prst="ellipse">
            <a:avLst/>
          </a:prstGeom>
          <a:solidFill>
            <a:srgbClr val="CADCFC"/>
          </a:solidFill>
        </p:spPr>
      </p:sp>
      <p:sp>
        <p:nvSpPr>
          <p:cNvPr id="15" name="Text 13"/>
          <p:cNvSpPr txBox="1"/>
          <p:nvPr/>
        </p:nvSpPr>
        <p:spPr>
          <a:xfrm>
            <a:off x="621792" y="4087368"/>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16" name="Text 14"/>
          <p:cNvSpPr txBox="1"/>
          <p:nvPr/>
        </p:nvSpPr>
        <p:spPr>
          <a:xfrm>
            <a:off x="1152144" y="4069080"/>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Custom VPC</a:t>
            </a:r>
            <a:endParaRPr lang="en-US" sz="1300" dirty="0"/>
          </a:p>
        </p:txBody>
      </p:sp>
      <p:sp>
        <p:nvSpPr>
          <p:cNvPr id="17" name="Shape 15"/>
          <p:cNvSpPr/>
          <p:nvPr/>
        </p:nvSpPr>
        <p:spPr>
          <a:xfrm>
            <a:off x="6291072" y="4087368"/>
            <a:ext cx="384048" cy="384048"/>
          </a:xfrm>
          <a:prstGeom prst="ellipse">
            <a:avLst/>
          </a:prstGeom>
          <a:solidFill>
            <a:srgbClr val="CADCFC"/>
          </a:solidFill>
        </p:spPr>
      </p:sp>
      <p:sp>
        <p:nvSpPr>
          <p:cNvPr id="18" name="Text 16"/>
          <p:cNvSpPr txBox="1"/>
          <p:nvPr/>
        </p:nvSpPr>
        <p:spPr>
          <a:xfrm>
            <a:off x="6291072" y="4087368"/>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19" name="Text 17"/>
          <p:cNvSpPr txBox="1"/>
          <p:nvPr/>
        </p:nvSpPr>
        <p:spPr>
          <a:xfrm>
            <a:off x="6821424" y="4069080"/>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Public Subnet and Private Subnet</a:t>
            </a:r>
            <a:endParaRPr lang="en-US" sz="1300" dirty="0"/>
          </a:p>
        </p:txBody>
      </p:sp>
      <p:sp>
        <p:nvSpPr>
          <p:cNvPr id="20" name="Shape 18"/>
          <p:cNvSpPr/>
          <p:nvPr/>
        </p:nvSpPr>
        <p:spPr>
          <a:xfrm>
            <a:off x="621792" y="4745736"/>
            <a:ext cx="384048" cy="384048"/>
          </a:xfrm>
          <a:prstGeom prst="ellipse">
            <a:avLst/>
          </a:prstGeom>
          <a:solidFill>
            <a:srgbClr val="CADCFC"/>
          </a:solidFill>
        </p:spPr>
      </p:sp>
      <p:sp>
        <p:nvSpPr>
          <p:cNvPr id="21" name="Text 19"/>
          <p:cNvSpPr txBox="1"/>
          <p:nvPr/>
        </p:nvSpPr>
        <p:spPr>
          <a:xfrm>
            <a:off x="621792" y="4745736"/>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22" name="Text 20"/>
          <p:cNvSpPr txBox="1"/>
          <p:nvPr/>
        </p:nvSpPr>
        <p:spPr>
          <a:xfrm>
            <a:off x="1152144" y="4727448"/>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Internet Gateway</a:t>
            </a:r>
            <a:endParaRPr lang="en-US" sz="1300" dirty="0"/>
          </a:p>
        </p:txBody>
      </p:sp>
      <p:sp>
        <p:nvSpPr>
          <p:cNvPr id="23" name="Shape 21"/>
          <p:cNvSpPr/>
          <p:nvPr/>
        </p:nvSpPr>
        <p:spPr>
          <a:xfrm>
            <a:off x="6291072" y="4745736"/>
            <a:ext cx="384048" cy="384048"/>
          </a:xfrm>
          <a:prstGeom prst="ellipse">
            <a:avLst/>
          </a:prstGeom>
          <a:solidFill>
            <a:srgbClr val="CADCFC"/>
          </a:solidFill>
        </p:spPr>
      </p:sp>
      <p:sp>
        <p:nvSpPr>
          <p:cNvPr id="24" name="Text 22"/>
          <p:cNvSpPr txBox="1"/>
          <p:nvPr/>
        </p:nvSpPr>
        <p:spPr>
          <a:xfrm>
            <a:off x="6291072" y="4745736"/>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25" name="Text 23"/>
          <p:cNvSpPr txBox="1"/>
          <p:nvPr/>
        </p:nvSpPr>
        <p:spPr>
          <a:xfrm>
            <a:off x="6821424" y="4727448"/>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Route Table for the Public Subnet</a:t>
            </a:r>
            <a:endParaRPr lang="en-US" sz="1300" dirty="0"/>
          </a:p>
        </p:txBody>
      </p:sp>
      <p:sp>
        <p:nvSpPr>
          <p:cNvPr id="26" name="Shape 24"/>
          <p:cNvSpPr/>
          <p:nvPr/>
        </p:nvSpPr>
        <p:spPr>
          <a:xfrm>
            <a:off x="621792" y="5404104"/>
            <a:ext cx="384048" cy="384048"/>
          </a:xfrm>
          <a:prstGeom prst="ellipse">
            <a:avLst/>
          </a:prstGeom>
          <a:solidFill>
            <a:srgbClr val="CADCFC"/>
          </a:solidFill>
        </p:spPr>
      </p:sp>
      <p:sp>
        <p:nvSpPr>
          <p:cNvPr id="27" name="Text 25"/>
          <p:cNvSpPr txBox="1"/>
          <p:nvPr/>
        </p:nvSpPr>
        <p:spPr>
          <a:xfrm>
            <a:off x="621792" y="5404104"/>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28" name="Text 26"/>
          <p:cNvSpPr txBox="1"/>
          <p:nvPr/>
        </p:nvSpPr>
        <p:spPr>
          <a:xfrm>
            <a:off x="1152144" y="5385816"/>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Amazon Linux AMI</a:t>
            </a:r>
            <a:endParaRPr lang="en-US" sz="1300" dirty="0"/>
          </a:p>
        </p:txBody>
      </p:sp>
      <p:sp>
        <p:nvSpPr>
          <p:cNvPr id="29" name="Shape 27"/>
          <p:cNvSpPr/>
          <p:nvPr/>
        </p:nvSpPr>
        <p:spPr>
          <a:xfrm>
            <a:off x="6291072" y="5404104"/>
            <a:ext cx="384048" cy="384048"/>
          </a:xfrm>
          <a:prstGeom prst="ellipse">
            <a:avLst/>
          </a:prstGeom>
          <a:solidFill>
            <a:srgbClr val="CADCFC"/>
          </a:solidFill>
        </p:spPr>
      </p:sp>
      <p:sp>
        <p:nvSpPr>
          <p:cNvPr id="30" name="Text 28"/>
          <p:cNvSpPr txBox="1"/>
          <p:nvPr/>
        </p:nvSpPr>
        <p:spPr>
          <a:xfrm>
            <a:off x="6291072" y="5404104"/>
            <a:ext cx="384048" cy="384048"/>
          </a:xfrm>
          <a:prstGeom prst="rect">
            <a:avLst/>
          </a:prstGeom>
          <a:noFill/>
        </p:spPr>
        <p:txBody>
          <a:bodyPr wrap="square" lIns="0" tIns="0" rIns="0" bIns="0" rtlCol="0" anchor="ctr"/>
          <a:lstStyle/>
          <a:p>
            <a:pPr marL="0" indent="0" algn="ctr">
              <a:buNone/>
            </a:pPr>
            <a:r>
              <a:rPr lang="en-US" sz="109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090" dirty="0"/>
          </a:p>
        </p:txBody>
      </p:sp>
      <p:sp>
        <p:nvSpPr>
          <p:cNvPr id="31" name="Text 29"/>
          <p:cNvSpPr txBox="1"/>
          <p:nvPr/>
        </p:nvSpPr>
        <p:spPr>
          <a:xfrm>
            <a:off x="6821424" y="5385816"/>
            <a:ext cx="4709160" cy="420624"/>
          </a:xfrm>
          <a:prstGeom prst="rect">
            <a:avLst/>
          </a:prstGeom>
          <a:noFill/>
        </p:spPr>
        <p:txBody>
          <a:bodyPr wrap="square" lIns="0" tIns="0" rIns="0" bIns="0" rtlCol="0" anchor="ctr"/>
          <a:lstStyle/>
          <a:p>
            <a:pPr marL="0" indent="0">
              <a:buNone/>
            </a:pPr>
            <a:r>
              <a:rPr lang="en-US" sz="1300" dirty="0">
                <a:solidFill>
                  <a:srgbClr val="16213A"/>
                </a:solidFill>
                <a:latin typeface="Calibri" panose="020F0502020204030204" pitchFamily="34" charset="0"/>
                <a:ea typeface="Calibri" panose="020F0502020204030204" pitchFamily="34" charset="-122"/>
                <a:cs typeface="Calibri" panose="020F0502020204030204" pitchFamily="34" charset="-120"/>
              </a:rPr>
              <a:t>EC2 Key Pair</a:t>
            </a:r>
            <a:endParaRPr lang="en-US" sz="1300" dirty="0"/>
          </a:p>
        </p:txBody>
      </p:sp>
      <p:sp>
        <p:nvSpPr>
          <p:cNvPr id="32" name="Text 30"/>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33" name="Text 31"/>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ARCHITECTURE</a:t>
            </a:r>
            <a:endParaRPr lang="en-US" sz="1200" dirty="0"/>
          </a:p>
        </p:txBody>
      </p:sp>
      <p:sp>
        <p:nvSpPr>
          <p:cNvPr id="3" name="Text 1"/>
          <p:cNvSpPr txBox="1"/>
          <p:nvPr/>
        </p:nvSpPr>
        <p:spPr>
          <a:xfrm>
            <a:off x="594360" y="603504"/>
            <a:ext cx="5120640" cy="502920"/>
          </a:xfrm>
          <a:prstGeom prst="rect">
            <a:avLst/>
          </a:prstGeom>
          <a:noFill/>
        </p:spPr>
        <p:txBody>
          <a:bodyPr wrap="square" lIns="0" tIns="0" rIns="0" bIns="0" rtlCol="0" anchor="ctr"/>
          <a:lstStyle/>
          <a:p>
            <a:pPr marL="0" indent="0">
              <a:buNone/>
            </a:pPr>
            <a:r>
              <a:rPr lang="en-US" sz="25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Network Architecture</a:t>
            </a:r>
            <a:endParaRPr lang="en-US" sz="2500" dirty="0"/>
          </a:p>
        </p:txBody>
      </p:sp>
      <p:sp>
        <p:nvSpPr>
          <p:cNvPr id="4" name="Shape 2"/>
          <p:cNvSpPr/>
          <p:nvPr/>
        </p:nvSpPr>
        <p:spPr>
          <a:xfrm>
            <a:off x="640080" y="1280160"/>
            <a:ext cx="10881360" cy="5029200"/>
          </a:xfrm>
          <a:prstGeom prst="roundRect">
            <a:avLst>
              <a:gd name="adj" fmla="val 1091"/>
            </a:avLst>
          </a:prstGeom>
          <a:solidFill>
            <a:srgbClr val="1B2A47"/>
          </a:solidFill>
          <a:ln w="15875">
            <a:solidFill>
              <a:srgbClr val="3A5482"/>
            </a:solidFill>
            <a:prstDash val="dash"/>
          </a:ln>
        </p:spPr>
      </p:sp>
      <p:sp>
        <p:nvSpPr>
          <p:cNvPr id="5" name="Text 3"/>
          <p:cNvSpPr txBox="1"/>
          <p:nvPr/>
        </p:nvSpPr>
        <p:spPr>
          <a:xfrm>
            <a:off x="868680" y="1389888"/>
            <a:ext cx="4572000" cy="292608"/>
          </a:xfrm>
          <a:prstGeom prst="rect">
            <a:avLst/>
          </a:prstGeom>
          <a:noFill/>
        </p:spPr>
        <p:txBody>
          <a:bodyPr wrap="square" lIns="0" tIns="0" rIns="0" bIns="0" rtlCol="0" anchor="ctr"/>
          <a:lstStyle/>
          <a:p>
            <a:pPr marL="0" indent="0">
              <a:buNone/>
            </a:pPr>
            <a:r>
              <a:rPr lang="en-US" sz="1200" b="1" kern="0" spc="100" dirty="0">
                <a:solidFill>
                  <a:srgbClr val="9FB4DA"/>
                </a:solidFill>
                <a:latin typeface="Calibri" panose="020F0502020204030204" pitchFamily="34" charset="0"/>
                <a:ea typeface="Calibri" panose="020F0502020204030204" pitchFamily="34" charset="-122"/>
                <a:cs typeface="Calibri" panose="020F0502020204030204" pitchFamily="34" charset="-120"/>
              </a:rPr>
              <a:t>Project6-VPC  •  10.0.0.0/16</a:t>
            </a:r>
            <a:endParaRPr lang="en-US" sz="1200" dirty="0"/>
          </a:p>
        </p:txBody>
      </p:sp>
      <p:sp>
        <p:nvSpPr>
          <p:cNvPr id="6" name="Shape 4"/>
          <p:cNvSpPr/>
          <p:nvPr/>
        </p:nvSpPr>
        <p:spPr>
          <a:xfrm>
            <a:off x="5821528" y="457200"/>
            <a:ext cx="548640" cy="548640"/>
          </a:xfrm>
          <a:prstGeom prst="ellipse">
            <a:avLst/>
          </a:prstGeom>
          <a:solidFill>
            <a:srgbClr val="FF9900"/>
          </a:solidFill>
        </p:spPr>
      </p:sp>
      <p:sp>
        <p:nvSpPr>
          <p:cNvPr id="7" name="Text 5"/>
          <p:cNvSpPr txBox="1"/>
          <p:nvPr/>
        </p:nvSpPr>
        <p:spPr>
          <a:xfrm>
            <a:off x="5821528" y="457200"/>
            <a:ext cx="548640" cy="548640"/>
          </a:xfrm>
          <a:prstGeom prst="rect">
            <a:avLst/>
          </a:prstGeom>
          <a:noFill/>
        </p:spPr>
        <p:txBody>
          <a:bodyPr wrap="square" lIns="0" tIns="0" rIns="0" bIns="0" rtlCol="0" anchor="ctr"/>
          <a:lstStyle/>
          <a:p>
            <a:pPr marL="0" indent="0" algn="ctr">
              <a:buNone/>
            </a:pPr>
            <a:r>
              <a:rPr lang="en-US" sz="1560"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560" dirty="0"/>
          </a:p>
        </p:txBody>
      </p:sp>
      <p:sp>
        <p:nvSpPr>
          <p:cNvPr id="8" name="Text 6"/>
          <p:cNvSpPr txBox="1"/>
          <p:nvPr/>
        </p:nvSpPr>
        <p:spPr>
          <a:xfrm>
            <a:off x="5455768" y="987552"/>
            <a:ext cx="1280160" cy="237744"/>
          </a:xfrm>
          <a:prstGeom prst="rect">
            <a:avLst/>
          </a:prstGeom>
          <a:noFill/>
        </p:spPr>
        <p:txBody>
          <a:bodyPr wrap="square" lIns="0" tIns="0" rIns="0" bIns="0" rtlCol="0" anchor="ctr"/>
          <a:lstStyle/>
          <a:p>
            <a:pPr marL="0" indent="0" algn="ctr">
              <a:buNone/>
            </a:pPr>
            <a:r>
              <a:rPr lang="en-US" sz="1050" b="1" dirty="0">
                <a:solidFill>
                  <a:srgbClr val="9FB4DA"/>
                </a:solidFill>
                <a:latin typeface="Calibri" panose="020F0502020204030204" pitchFamily="34" charset="0"/>
                <a:ea typeface="Calibri" panose="020F0502020204030204" pitchFamily="34" charset="-122"/>
                <a:cs typeface="Calibri" panose="020F0502020204030204" pitchFamily="34" charset="-120"/>
              </a:rPr>
              <a:t>Internet</a:t>
            </a:r>
            <a:endParaRPr lang="en-US" sz="1050" dirty="0"/>
          </a:p>
        </p:txBody>
      </p:sp>
      <p:sp>
        <p:nvSpPr>
          <p:cNvPr id="9" name="Shape 7"/>
          <p:cNvSpPr/>
          <p:nvPr/>
        </p:nvSpPr>
        <p:spPr>
          <a:xfrm>
            <a:off x="6095848" y="987552"/>
            <a:ext cx="0" cy="429768"/>
          </a:xfrm>
          <a:prstGeom prst="line">
            <a:avLst/>
          </a:prstGeom>
          <a:noFill/>
          <a:ln w="19050">
            <a:solidFill>
              <a:srgbClr val="5A7AB0"/>
            </a:solidFill>
            <a:prstDash val="solid"/>
          </a:ln>
        </p:spPr>
      </p:sp>
      <p:sp>
        <p:nvSpPr>
          <p:cNvPr id="10" name="Shape 8"/>
          <p:cNvSpPr/>
          <p:nvPr/>
        </p:nvSpPr>
        <p:spPr>
          <a:xfrm>
            <a:off x="5227168" y="1417320"/>
            <a:ext cx="1737360" cy="457200"/>
          </a:xfrm>
          <a:prstGeom prst="roundRect">
            <a:avLst>
              <a:gd name="adj" fmla="val 12000"/>
            </a:avLst>
          </a:prstGeom>
          <a:solidFill>
            <a:srgbClr val="FF9900"/>
          </a:solidFill>
        </p:spPr>
      </p:sp>
      <p:sp>
        <p:nvSpPr>
          <p:cNvPr id="11" name="Text 9"/>
          <p:cNvSpPr txBox="1"/>
          <p:nvPr/>
        </p:nvSpPr>
        <p:spPr>
          <a:xfrm>
            <a:off x="5227168" y="1417320"/>
            <a:ext cx="1737360" cy="457200"/>
          </a:xfrm>
          <a:prstGeom prst="rect">
            <a:avLst/>
          </a:prstGeom>
          <a:noFill/>
        </p:spPr>
        <p:txBody>
          <a:bodyPr wrap="square" lIns="0" tIns="0" rIns="0" bIns="0" rtlCol="0" anchor="ctr"/>
          <a:lstStyle/>
          <a:p>
            <a:pPr marL="0" indent="0" algn="ctr">
              <a:buNone/>
            </a:pPr>
            <a:r>
              <a:rPr lang="en-US" sz="1050" b="1" dirty="0">
                <a:solidFill>
                  <a:srgbClr val="152238"/>
                </a:solidFill>
                <a:latin typeface="Calibri" panose="020F0502020204030204" pitchFamily="34" charset="0"/>
                <a:ea typeface="Calibri" panose="020F0502020204030204" pitchFamily="34" charset="-122"/>
                <a:cs typeface="Calibri" panose="020F0502020204030204" pitchFamily="34" charset="-120"/>
              </a:rPr>
              <a:t>Project6-IGW</a:t>
            </a:r>
            <a:endParaRPr lang="en-US" sz="1050" dirty="0"/>
          </a:p>
        </p:txBody>
      </p:sp>
      <p:sp>
        <p:nvSpPr>
          <p:cNvPr id="12" name="Shape 10"/>
          <p:cNvSpPr/>
          <p:nvPr/>
        </p:nvSpPr>
        <p:spPr>
          <a:xfrm>
            <a:off x="1005840" y="2148840"/>
            <a:ext cx="4892040" cy="3977640"/>
          </a:xfrm>
          <a:prstGeom prst="roundRect">
            <a:avLst>
              <a:gd name="adj" fmla="val 1379"/>
            </a:avLst>
          </a:prstGeom>
          <a:solidFill>
            <a:srgbClr val="16371F"/>
          </a:solidFill>
          <a:ln w="15875">
            <a:solidFill>
              <a:srgbClr val="1B8A5A"/>
            </a:solidFill>
            <a:prstDash val="solid"/>
          </a:ln>
        </p:spPr>
      </p:sp>
      <p:sp>
        <p:nvSpPr>
          <p:cNvPr id="13" name="Text 11"/>
          <p:cNvSpPr txBox="1"/>
          <p:nvPr/>
        </p:nvSpPr>
        <p:spPr>
          <a:xfrm>
            <a:off x="1188720" y="2258568"/>
            <a:ext cx="4526280" cy="274320"/>
          </a:xfrm>
          <a:prstGeom prst="rect">
            <a:avLst/>
          </a:prstGeom>
          <a:noFill/>
        </p:spPr>
        <p:txBody>
          <a:bodyPr wrap="square" lIns="0" tIns="0" rIns="0" bIns="0" rtlCol="0" anchor="ctr"/>
          <a:lstStyle/>
          <a:p>
            <a:pPr marL="0" indent="0">
              <a:buNone/>
            </a:pPr>
            <a:r>
              <a:rPr lang="en-US" sz="1000" b="1" kern="0" spc="50" dirty="0">
                <a:solidFill>
                  <a:srgbClr val="8FE0AC"/>
                </a:solidFill>
                <a:latin typeface="Calibri" panose="020F0502020204030204" pitchFamily="34" charset="0"/>
                <a:ea typeface="Calibri" panose="020F0502020204030204" pitchFamily="34" charset="-122"/>
                <a:cs typeface="Calibri" panose="020F0502020204030204" pitchFamily="34" charset="-120"/>
              </a:rPr>
              <a:t>PUBLIC SUBNET  •  Project6-Public-Subnet  •  10.0.1.0/24</a:t>
            </a:r>
            <a:endParaRPr lang="en-US" sz="1000" dirty="0"/>
          </a:p>
        </p:txBody>
      </p:sp>
      <p:sp>
        <p:nvSpPr>
          <p:cNvPr id="14" name="Shape 12"/>
          <p:cNvSpPr/>
          <p:nvPr/>
        </p:nvSpPr>
        <p:spPr>
          <a:xfrm>
            <a:off x="6263640" y="2148840"/>
            <a:ext cx="4892040" cy="3977640"/>
          </a:xfrm>
          <a:prstGeom prst="roundRect">
            <a:avLst>
              <a:gd name="adj" fmla="val 1379"/>
            </a:avLst>
          </a:prstGeom>
          <a:solidFill>
            <a:srgbClr val="132A47"/>
          </a:solidFill>
          <a:ln w="15875">
            <a:solidFill>
              <a:srgbClr val="1C5FA8"/>
            </a:solidFill>
            <a:prstDash val="solid"/>
          </a:ln>
        </p:spPr>
      </p:sp>
      <p:sp>
        <p:nvSpPr>
          <p:cNvPr id="15" name="Text 13"/>
          <p:cNvSpPr txBox="1"/>
          <p:nvPr/>
        </p:nvSpPr>
        <p:spPr>
          <a:xfrm>
            <a:off x="6446520" y="2258568"/>
            <a:ext cx="4526280" cy="274320"/>
          </a:xfrm>
          <a:prstGeom prst="rect">
            <a:avLst/>
          </a:prstGeom>
          <a:noFill/>
        </p:spPr>
        <p:txBody>
          <a:bodyPr wrap="square" lIns="0" tIns="0" rIns="0" bIns="0" rtlCol="0" anchor="ctr"/>
          <a:lstStyle/>
          <a:p>
            <a:pPr marL="0" indent="0">
              <a:buNone/>
            </a:pPr>
            <a:r>
              <a:rPr lang="en-US" sz="1000" b="1" kern="0" spc="50" dirty="0">
                <a:solidFill>
                  <a:srgbClr val="8FC1F0"/>
                </a:solidFill>
                <a:latin typeface="Calibri" panose="020F0502020204030204" pitchFamily="34" charset="0"/>
                <a:ea typeface="Calibri" panose="020F0502020204030204" pitchFamily="34" charset="-122"/>
                <a:cs typeface="Calibri" panose="020F0502020204030204" pitchFamily="34" charset="-120"/>
              </a:rPr>
              <a:t>PRIVATE SUBNET  •  Project6-Private-Subnet  •  10.0.2.0/24</a:t>
            </a:r>
            <a:endParaRPr lang="en-US" sz="1000" dirty="0"/>
          </a:p>
        </p:txBody>
      </p:sp>
      <p:sp>
        <p:nvSpPr>
          <p:cNvPr id="16" name="Shape 14"/>
          <p:cNvSpPr/>
          <p:nvPr/>
        </p:nvSpPr>
        <p:spPr>
          <a:xfrm>
            <a:off x="2537460" y="2697480"/>
            <a:ext cx="1828800" cy="960120"/>
          </a:xfrm>
          <a:prstGeom prst="roundRect">
            <a:avLst>
              <a:gd name="adj" fmla="val 6667"/>
            </a:avLst>
          </a:prstGeom>
          <a:solidFill>
            <a:srgbClr val="1F4A2C"/>
          </a:solidFill>
          <a:ln w="12700">
            <a:solidFill>
              <a:srgbClr val="1B8A5A"/>
            </a:solidFill>
            <a:prstDash val="solid"/>
          </a:ln>
        </p:spPr>
      </p:sp>
      <p:sp>
        <p:nvSpPr>
          <p:cNvPr id="17" name="Text 15"/>
          <p:cNvSpPr txBox="1"/>
          <p:nvPr/>
        </p:nvSpPr>
        <p:spPr>
          <a:xfrm>
            <a:off x="2537460" y="2752344"/>
            <a:ext cx="1828800" cy="384048"/>
          </a:xfrm>
          <a:prstGeom prst="rect">
            <a:avLst/>
          </a:prstGeom>
          <a:noFill/>
        </p:spPr>
        <p:txBody>
          <a:bodyPr wrap="square" lIns="0" tIns="0" rIns="0" bIns="0" rtlCol="0" anchor="ctr"/>
          <a:lstStyle/>
          <a:p>
            <a:pPr marL="0" indent="0" algn="ctr">
              <a:buNone/>
            </a:pPr>
            <a:r>
              <a:rPr lang="en-US" sz="19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900" dirty="0"/>
          </a:p>
        </p:txBody>
      </p:sp>
      <p:sp>
        <p:nvSpPr>
          <p:cNvPr id="18" name="Text 16"/>
          <p:cNvSpPr txBox="1"/>
          <p:nvPr/>
        </p:nvSpPr>
        <p:spPr>
          <a:xfrm>
            <a:off x="2537460" y="3172968"/>
            <a:ext cx="1828800" cy="27432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Project6-Public-EC2</a:t>
            </a:r>
            <a:endParaRPr lang="en-US" sz="1050" dirty="0"/>
          </a:p>
        </p:txBody>
      </p:sp>
      <p:sp>
        <p:nvSpPr>
          <p:cNvPr id="19" name="Text 17"/>
          <p:cNvSpPr txBox="1"/>
          <p:nvPr/>
        </p:nvSpPr>
        <p:spPr>
          <a:xfrm>
            <a:off x="2537460" y="3429000"/>
            <a:ext cx="1828800" cy="228600"/>
          </a:xfrm>
          <a:prstGeom prst="rect">
            <a:avLst/>
          </a:prstGeom>
          <a:noFill/>
        </p:spPr>
        <p:txBody>
          <a:bodyPr wrap="square" lIns="0" tIns="0" rIns="0" bIns="0" rtlCol="0" anchor="ctr"/>
          <a:lstStyle/>
          <a:p>
            <a:pPr marL="0" indent="0" algn="ctr">
              <a:buNone/>
            </a:pPr>
            <a:r>
              <a:rPr lang="en-US" sz="900" dirty="0">
                <a:solidFill>
                  <a:srgbClr val="B9E5C4"/>
                </a:solidFill>
                <a:latin typeface="Calibri" panose="020F0502020204030204" pitchFamily="34" charset="0"/>
                <a:ea typeface="Calibri" panose="020F0502020204030204" pitchFamily="34" charset="-122"/>
                <a:cs typeface="Calibri" panose="020F0502020204030204" pitchFamily="34" charset="-120"/>
              </a:rPr>
              <a:t>10.0.1.x  (public IP)</a:t>
            </a:r>
            <a:endParaRPr lang="en-US" sz="900" dirty="0"/>
          </a:p>
        </p:txBody>
      </p:sp>
      <p:sp>
        <p:nvSpPr>
          <p:cNvPr id="20" name="Shape 18"/>
          <p:cNvSpPr/>
          <p:nvPr/>
        </p:nvSpPr>
        <p:spPr>
          <a:xfrm>
            <a:off x="1234440" y="5230368"/>
            <a:ext cx="1554480" cy="502920"/>
          </a:xfrm>
          <a:prstGeom prst="roundRect">
            <a:avLst>
              <a:gd name="adj" fmla="val 10909"/>
            </a:avLst>
          </a:prstGeom>
          <a:solidFill>
            <a:srgbClr val="2E5A3B"/>
          </a:solidFill>
          <a:ln w="12700">
            <a:solidFill>
              <a:srgbClr val="1B8A5A"/>
            </a:solidFill>
            <a:prstDash val="solid"/>
          </a:ln>
        </p:spPr>
      </p:sp>
      <p:sp>
        <p:nvSpPr>
          <p:cNvPr id="21" name="Text 19"/>
          <p:cNvSpPr txBox="1"/>
          <p:nvPr/>
        </p:nvSpPr>
        <p:spPr>
          <a:xfrm>
            <a:off x="1234440" y="5230368"/>
            <a:ext cx="1554480" cy="502920"/>
          </a:xfrm>
          <a:prstGeom prst="rect">
            <a:avLst/>
          </a:prstGeom>
          <a:noFill/>
        </p:spPr>
        <p:txBody>
          <a:bodyPr wrap="square" lIns="0" tIns="0" rIns="0" bIns="0" rtlCol="0" anchor="ctr"/>
          <a:lstStyle/>
          <a:p>
            <a:pPr marL="0" indent="0" algn="ctr">
              <a:buNone/>
            </a:pPr>
            <a:r>
              <a:rPr lang="en-US" sz="1000" b="1" dirty="0">
                <a:solidFill>
                  <a:srgbClr val="D6F5DE"/>
                </a:solidFill>
                <a:latin typeface="Calibri" panose="020F0502020204030204" pitchFamily="34" charset="0"/>
                <a:ea typeface="Calibri" panose="020F0502020204030204" pitchFamily="34" charset="-122"/>
                <a:cs typeface="Calibri" panose="020F0502020204030204" pitchFamily="34" charset="-120"/>
              </a:rPr>
              <a:t>NAT Gateway</a:t>
            </a:r>
            <a:endParaRPr lang="en-US" sz="1000" dirty="0"/>
          </a:p>
        </p:txBody>
      </p:sp>
      <p:sp>
        <p:nvSpPr>
          <p:cNvPr id="22" name="Shape 20"/>
          <p:cNvSpPr/>
          <p:nvPr/>
        </p:nvSpPr>
        <p:spPr>
          <a:xfrm>
            <a:off x="7795260" y="2697480"/>
            <a:ext cx="1828800" cy="960120"/>
          </a:xfrm>
          <a:prstGeom prst="roundRect">
            <a:avLst>
              <a:gd name="adj" fmla="val 6667"/>
            </a:avLst>
          </a:prstGeom>
          <a:solidFill>
            <a:srgbClr val="1B3A63"/>
          </a:solidFill>
          <a:ln w="12700">
            <a:solidFill>
              <a:srgbClr val="1C5FA8"/>
            </a:solidFill>
            <a:prstDash val="solid"/>
          </a:ln>
        </p:spPr>
      </p:sp>
      <p:sp>
        <p:nvSpPr>
          <p:cNvPr id="23" name="Text 21"/>
          <p:cNvSpPr txBox="1"/>
          <p:nvPr/>
        </p:nvSpPr>
        <p:spPr>
          <a:xfrm>
            <a:off x="7795260" y="2752344"/>
            <a:ext cx="1828800" cy="384048"/>
          </a:xfrm>
          <a:prstGeom prst="rect">
            <a:avLst/>
          </a:prstGeom>
          <a:noFill/>
        </p:spPr>
        <p:txBody>
          <a:bodyPr wrap="square" lIns="0" tIns="0" rIns="0" bIns="0" rtlCol="0" anchor="ctr"/>
          <a:lstStyle/>
          <a:p>
            <a:pPr marL="0" indent="0" algn="ctr">
              <a:buNone/>
            </a:pPr>
            <a:r>
              <a:rPr lang="en-US" sz="19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900" dirty="0"/>
          </a:p>
        </p:txBody>
      </p:sp>
      <p:sp>
        <p:nvSpPr>
          <p:cNvPr id="24" name="Text 22"/>
          <p:cNvSpPr txBox="1"/>
          <p:nvPr/>
        </p:nvSpPr>
        <p:spPr>
          <a:xfrm>
            <a:off x="7795260" y="3172968"/>
            <a:ext cx="1828800" cy="27432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Project6-Private-EC2</a:t>
            </a:r>
            <a:endParaRPr lang="en-US" sz="1050" dirty="0"/>
          </a:p>
        </p:txBody>
      </p:sp>
      <p:sp>
        <p:nvSpPr>
          <p:cNvPr id="25" name="Text 23"/>
          <p:cNvSpPr txBox="1"/>
          <p:nvPr/>
        </p:nvSpPr>
        <p:spPr>
          <a:xfrm>
            <a:off x="7795260" y="3429000"/>
            <a:ext cx="1828800" cy="228600"/>
          </a:xfrm>
          <a:prstGeom prst="rect">
            <a:avLst/>
          </a:prstGeom>
          <a:noFill/>
        </p:spPr>
        <p:txBody>
          <a:bodyPr wrap="square" lIns="0" tIns="0" rIns="0" bIns="0" rtlCol="0" anchor="ctr"/>
          <a:lstStyle/>
          <a:p>
            <a:pPr marL="0" indent="0" algn="ctr">
              <a:buNone/>
            </a:pPr>
            <a:r>
              <a:rPr lang="en-US" sz="900" dirty="0">
                <a:solidFill>
                  <a:srgbClr val="B9D4F5"/>
                </a:solidFill>
                <a:latin typeface="Calibri" panose="020F0502020204030204" pitchFamily="34" charset="0"/>
                <a:ea typeface="Calibri" panose="020F0502020204030204" pitchFamily="34" charset="-122"/>
                <a:cs typeface="Calibri" panose="020F0502020204030204" pitchFamily="34" charset="-120"/>
              </a:rPr>
              <a:t>10.0.2.62  (no public IP)</a:t>
            </a:r>
            <a:endParaRPr lang="en-US" sz="900" dirty="0"/>
          </a:p>
        </p:txBody>
      </p:sp>
      <p:sp>
        <p:nvSpPr>
          <p:cNvPr id="26" name="Shape 24"/>
          <p:cNvSpPr/>
          <p:nvPr/>
        </p:nvSpPr>
        <p:spPr>
          <a:xfrm>
            <a:off x="3451860" y="1874520"/>
            <a:ext cx="2643988" cy="0"/>
          </a:xfrm>
          <a:prstGeom prst="line">
            <a:avLst/>
          </a:prstGeom>
          <a:noFill/>
          <a:ln w="15875">
            <a:solidFill>
              <a:srgbClr val="5A7AB0"/>
            </a:solidFill>
            <a:prstDash val="solid"/>
          </a:ln>
        </p:spPr>
      </p:sp>
      <p:sp>
        <p:nvSpPr>
          <p:cNvPr id="27" name="Shape 25"/>
          <p:cNvSpPr/>
          <p:nvPr/>
        </p:nvSpPr>
        <p:spPr>
          <a:xfrm>
            <a:off x="3451860" y="1874520"/>
            <a:ext cx="0" cy="822960"/>
          </a:xfrm>
          <a:prstGeom prst="line">
            <a:avLst/>
          </a:prstGeom>
          <a:noFill/>
          <a:ln w="15875">
            <a:solidFill>
              <a:srgbClr val="5A7AB0"/>
            </a:solidFill>
            <a:prstDash val="solid"/>
          </a:ln>
        </p:spPr>
      </p:sp>
      <p:sp>
        <p:nvSpPr>
          <p:cNvPr id="28" name="Shape 26"/>
          <p:cNvSpPr/>
          <p:nvPr/>
        </p:nvSpPr>
        <p:spPr>
          <a:xfrm>
            <a:off x="4366260" y="3177540"/>
            <a:ext cx="3429000" cy="0"/>
          </a:xfrm>
          <a:prstGeom prst="line">
            <a:avLst/>
          </a:prstGeom>
          <a:noFill/>
          <a:ln w="22225">
            <a:solidFill>
              <a:srgbClr val="FF9900"/>
            </a:solidFill>
            <a:prstDash val="dash"/>
          </a:ln>
        </p:spPr>
      </p:sp>
      <p:sp>
        <p:nvSpPr>
          <p:cNvPr id="29" name="Text 27"/>
          <p:cNvSpPr txBox="1"/>
          <p:nvPr/>
        </p:nvSpPr>
        <p:spPr>
          <a:xfrm>
            <a:off x="4366260" y="2884932"/>
            <a:ext cx="3429000" cy="256032"/>
          </a:xfrm>
          <a:prstGeom prst="rect">
            <a:avLst/>
          </a:prstGeom>
          <a:noFill/>
        </p:spPr>
        <p:txBody>
          <a:bodyPr wrap="square" lIns="0" tIns="0" rIns="0" bIns="0" rtlCol="0" anchor="ctr"/>
          <a:lstStyle/>
          <a:p>
            <a:pPr marL="0" indent="0" algn="ctr">
              <a:buNone/>
            </a:pPr>
            <a:r>
              <a:rPr lang="en-US" sz="950" dirty="0">
                <a:solidFill>
                  <a:srgbClr val="FF9900"/>
                </a:solidFill>
                <a:latin typeface="Courier New" panose="02070309020205020404" pitchFamily="34" charset="0"/>
                <a:ea typeface="Courier New" panose="02070309020205020404" pitchFamily="34" charset="-122"/>
                <a:cs typeface="Courier New" panose="02070309020205020404" pitchFamily="34" charset="-120"/>
              </a:rPr>
              <a:t>ping 10.0.2.62</a:t>
            </a:r>
            <a:endParaRPr lang="en-US" sz="950" dirty="0"/>
          </a:p>
        </p:txBody>
      </p:sp>
      <p:sp>
        <p:nvSpPr>
          <p:cNvPr id="30" name="Shape 28"/>
          <p:cNvSpPr/>
          <p:nvPr/>
        </p:nvSpPr>
        <p:spPr>
          <a:xfrm>
            <a:off x="2011680" y="5230368"/>
            <a:ext cx="6697980" cy="0"/>
          </a:xfrm>
          <a:prstGeom prst="line">
            <a:avLst/>
          </a:prstGeom>
          <a:noFill/>
          <a:ln w="13970">
            <a:solidFill>
              <a:srgbClr val="5A9BD8"/>
            </a:solidFill>
            <a:prstDash val="dash"/>
          </a:ln>
        </p:spPr>
      </p:sp>
      <p:sp>
        <p:nvSpPr>
          <p:cNvPr id="31" name="Shape 29"/>
          <p:cNvSpPr/>
          <p:nvPr/>
        </p:nvSpPr>
        <p:spPr>
          <a:xfrm>
            <a:off x="8709660" y="3657600"/>
            <a:ext cx="0" cy="1572768"/>
          </a:xfrm>
          <a:prstGeom prst="line">
            <a:avLst/>
          </a:prstGeom>
          <a:noFill/>
          <a:ln w="13970">
            <a:solidFill>
              <a:srgbClr val="5A9BD8"/>
            </a:solidFill>
            <a:prstDash val="dash"/>
          </a:ln>
        </p:spPr>
      </p:sp>
      <p:sp>
        <p:nvSpPr>
          <p:cNvPr id="32" name="Text 30"/>
          <p:cNvSpPr txBox="1"/>
          <p:nvPr/>
        </p:nvSpPr>
        <p:spPr>
          <a:xfrm>
            <a:off x="868680" y="5998464"/>
            <a:ext cx="10424160" cy="274320"/>
          </a:xfrm>
          <a:prstGeom prst="rect">
            <a:avLst/>
          </a:prstGeom>
          <a:noFill/>
        </p:spPr>
        <p:txBody>
          <a:bodyPr wrap="square" lIns="0" tIns="0" rIns="0" bIns="0" rtlCol="0" anchor="ctr"/>
          <a:lstStyle/>
          <a:p>
            <a:pPr marL="0" indent="0">
              <a:buNone/>
            </a:pPr>
            <a:r>
              <a:rPr lang="en-US" sz="950" dirty="0">
                <a:solidFill>
                  <a:srgbClr val="8FA3C8"/>
                </a:solidFill>
                <a:latin typeface="Calibri" panose="020F0502020204030204" pitchFamily="34" charset="0"/>
                <a:ea typeface="Calibri" panose="020F0502020204030204" pitchFamily="34" charset="-122"/>
                <a:cs typeface="Calibri" panose="020F0502020204030204" pitchFamily="34" charset="-120"/>
              </a:rPr>
              <a:t>— Internet Gateway route      ---  NAT outbound route      ---  Connectivity test (ping via private IP)</a:t>
            </a:r>
            <a:endParaRPr lang="en-US" sz="950" dirty="0"/>
          </a:p>
        </p:txBody>
      </p:sp>
      <p:sp>
        <p:nvSpPr>
          <p:cNvPr id="33" name="Text 31"/>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8FA3C8"/>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34" name="Text 32"/>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8FA3C8"/>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PHASE 1 — SOHIT SHARMA</a:t>
            </a:r>
            <a:endParaRPr lang="en-US" sz="1200" dirty="0"/>
          </a:p>
        </p:txBody>
      </p:sp>
      <p:sp>
        <p:nvSpPr>
          <p:cNvPr id="3" name="Text 1"/>
          <p:cNvSpPr txBox="1"/>
          <p:nvPr/>
        </p:nvSpPr>
        <p:spPr>
          <a:xfrm>
            <a:off x="594360" y="731520"/>
            <a:ext cx="8229600" cy="594360"/>
          </a:xfrm>
          <a:prstGeom prst="rect">
            <a:avLst/>
          </a:prstGeom>
          <a:noFill/>
        </p:spPr>
        <p:txBody>
          <a:bodyPr wrap="square" lIns="0" tIns="0" rIns="0" bIns="0" rtlCol="0" anchor="ctr"/>
          <a:lstStyle/>
          <a:p>
            <a:pPr marL="0" indent="0">
              <a:buNone/>
            </a:pPr>
            <a:r>
              <a:rPr lang="en-US" sz="3000" b="1" dirty="0">
                <a:solidFill>
                  <a:srgbClr val="16213A"/>
                </a:solidFill>
                <a:latin typeface="Cambria" panose="02040503050406030204" pitchFamily="34" charset="0"/>
                <a:ea typeface="Cambria" panose="02040503050406030204" pitchFamily="34" charset="-122"/>
                <a:cs typeface="Cambria" panose="02040503050406030204" pitchFamily="34" charset="-120"/>
              </a:rPr>
              <a:t>Create the VPC &amp; Subnets</a:t>
            </a:r>
            <a:endParaRPr lang="en-US" sz="3000" dirty="0"/>
          </a:p>
        </p:txBody>
      </p:sp>
      <p:sp>
        <p:nvSpPr>
          <p:cNvPr id="4" name="Shape 2"/>
          <p:cNvSpPr/>
          <p:nvPr/>
        </p:nvSpPr>
        <p:spPr>
          <a:xfrm>
            <a:off x="621792" y="1600200"/>
            <a:ext cx="548640" cy="548640"/>
          </a:xfrm>
          <a:prstGeom prst="ellipse">
            <a:avLst/>
          </a:prstGeom>
          <a:solidFill>
            <a:srgbClr val="152238"/>
          </a:solidFill>
        </p:spPr>
      </p:sp>
      <p:sp>
        <p:nvSpPr>
          <p:cNvPr id="5" name="Text 3"/>
          <p:cNvSpPr txBox="1"/>
          <p:nvPr/>
        </p:nvSpPr>
        <p:spPr>
          <a:xfrm>
            <a:off x="621792" y="1600200"/>
            <a:ext cx="548640" cy="548640"/>
          </a:xfrm>
          <a:prstGeom prst="rect">
            <a:avLst/>
          </a:prstGeom>
          <a:noFill/>
        </p:spPr>
        <p:txBody>
          <a:bodyPr wrap="square" lIns="0" tIns="0" rIns="0" bIns="0" rtlCol="0" anchor="ctr"/>
          <a:lstStyle/>
          <a:p>
            <a:pPr marL="0" indent="0" algn="ctr">
              <a:buNone/>
            </a:pPr>
            <a:r>
              <a:rPr lang="en-US" sz="1560" b="1" dirty="0">
                <a:solidFill>
                  <a:srgbClr val="FF9900"/>
                </a:solidFill>
                <a:latin typeface="Cambria" panose="02040503050406030204" pitchFamily="34" charset="0"/>
                <a:ea typeface="Cambria" panose="02040503050406030204" pitchFamily="34" charset="-122"/>
                <a:cs typeface="Cambria" panose="02040503050406030204" pitchFamily="34" charset="-120"/>
              </a:rPr>
              <a:t>1</a:t>
            </a:r>
            <a:endParaRPr lang="en-US" sz="1560" dirty="0"/>
          </a:p>
        </p:txBody>
      </p:sp>
      <p:sp>
        <p:nvSpPr>
          <p:cNvPr id="6" name="Text 4"/>
          <p:cNvSpPr txBox="1"/>
          <p:nvPr/>
        </p:nvSpPr>
        <p:spPr>
          <a:xfrm>
            <a:off x="1353312" y="1554480"/>
            <a:ext cx="4251960" cy="365760"/>
          </a:xfrm>
          <a:prstGeom prst="rect">
            <a:avLst/>
          </a:prstGeom>
          <a:noFill/>
        </p:spPr>
        <p:txBody>
          <a:bodyPr wrap="square" lIns="0" tIns="0" rIns="0" bIns="0" rtlCol="0" anchor="ctr"/>
          <a:lstStyle/>
          <a:p>
            <a:pPr marL="0" indent="0">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Create the VPC</a:t>
            </a:r>
            <a:endParaRPr lang="en-US" sz="1450" dirty="0"/>
          </a:p>
        </p:txBody>
      </p:sp>
      <p:sp>
        <p:nvSpPr>
          <p:cNvPr id="7" name="Text 5"/>
          <p:cNvSpPr txBox="1"/>
          <p:nvPr/>
        </p:nvSpPr>
        <p:spPr>
          <a:xfrm>
            <a:off x="1353312" y="1892808"/>
            <a:ext cx="4251960" cy="594360"/>
          </a:xfrm>
          <a:prstGeom prst="rect">
            <a:avLst/>
          </a:prstGeom>
          <a:noFill/>
        </p:spPr>
        <p:txBody>
          <a:bodyPr wrap="square" lIns="0" tIns="0" rIns="0" bIns="0" rtlCol="0" anchor="ctr"/>
          <a:lstStyle/>
          <a:p>
            <a:pPr marL="0" indent="0">
              <a:lnSpc>
                <a:spcPct val="120000"/>
              </a:lnSpc>
              <a:buNone/>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Project6-VPC created with CIDR block 10.0.0.0/16 and verified as Available.</a:t>
            </a:r>
            <a:endParaRPr lang="en-US" sz="1150" dirty="0"/>
          </a:p>
        </p:txBody>
      </p:sp>
      <p:sp>
        <p:nvSpPr>
          <p:cNvPr id="8" name="Shape 6"/>
          <p:cNvSpPr/>
          <p:nvPr/>
        </p:nvSpPr>
        <p:spPr>
          <a:xfrm>
            <a:off x="621792" y="2532888"/>
            <a:ext cx="548640" cy="548640"/>
          </a:xfrm>
          <a:prstGeom prst="ellipse">
            <a:avLst/>
          </a:prstGeom>
          <a:solidFill>
            <a:srgbClr val="152238"/>
          </a:solidFill>
        </p:spPr>
      </p:sp>
      <p:sp>
        <p:nvSpPr>
          <p:cNvPr id="9" name="Text 7"/>
          <p:cNvSpPr txBox="1"/>
          <p:nvPr/>
        </p:nvSpPr>
        <p:spPr>
          <a:xfrm>
            <a:off x="621792" y="2532888"/>
            <a:ext cx="548640" cy="548640"/>
          </a:xfrm>
          <a:prstGeom prst="rect">
            <a:avLst/>
          </a:prstGeom>
          <a:noFill/>
        </p:spPr>
        <p:txBody>
          <a:bodyPr wrap="square" lIns="0" tIns="0" rIns="0" bIns="0" rtlCol="0" anchor="ctr"/>
          <a:lstStyle/>
          <a:p>
            <a:pPr marL="0" indent="0" algn="ctr">
              <a:buNone/>
            </a:pPr>
            <a:r>
              <a:rPr lang="en-US" sz="1560" b="1" dirty="0">
                <a:solidFill>
                  <a:srgbClr val="FF9900"/>
                </a:solidFill>
                <a:latin typeface="Cambria" panose="02040503050406030204" pitchFamily="34" charset="0"/>
                <a:ea typeface="Cambria" panose="02040503050406030204" pitchFamily="34" charset="-122"/>
                <a:cs typeface="Cambria" panose="02040503050406030204" pitchFamily="34" charset="-120"/>
              </a:rPr>
              <a:t>2</a:t>
            </a:r>
            <a:endParaRPr lang="en-US" sz="1560" dirty="0"/>
          </a:p>
        </p:txBody>
      </p:sp>
      <p:sp>
        <p:nvSpPr>
          <p:cNvPr id="10" name="Text 8"/>
          <p:cNvSpPr txBox="1"/>
          <p:nvPr/>
        </p:nvSpPr>
        <p:spPr>
          <a:xfrm>
            <a:off x="1353312" y="2487168"/>
            <a:ext cx="4251960" cy="365760"/>
          </a:xfrm>
          <a:prstGeom prst="rect">
            <a:avLst/>
          </a:prstGeom>
          <a:noFill/>
        </p:spPr>
        <p:txBody>
          <a:bodyPr wrap="square" lIns="0" tIns="0" rIns="0" bIns="0" rtlCol="0" anchor="ctr"/>
          <a:lstStyle/>
          <a:p>
            <a:pPr marL="0" indent="0">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Create the Public Subnet</a:t>
            </a:r>
            <a:endParaRPr lang="en-US" sz="1450" dirty="0"/>
          </a:p>
        </p:txBody>
      </p:sp>
      <p:sp>
        <p:nvSpPr>
          <p:cNvPr id="11" name="Text 9"/>
          <p:cNvSpPr txBox="1"/>
          <p:nvPr/>
        </p:nvSpPr>
        <p:spPr>
          <a:xfrm>
            <a:off x="1353312" y="2825496"/>
            <a:ext cx="4251960" cy="594360"/>
          </a:xfrm>
          <a:prstGeom prst="rect">
            <a:avLst/>
          </a:prstGeom>
          <a:noFill/>
        </p:spPr>
        <p:txBody>
          <a:bodyPr wrap="square" lIns="0" tIns="0" rIns="0" bIns="0" rtlCol="0" anchor="ctr"/>
          <a:lstStyle/>
          <a:p>
            <a:pPr marL="0" indent="0">
              <a:lnSpc>
                <a:spcPct val="120000"/>
              </a:lnSpc>
              <a:buNone/>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Project6-Public-Subnet — IPv4 CIDR 10.0.1.0/24.</a:t>
            </a:r>
            <a:endParaRPr lang="en-US" sz="1150" dirty="0"/>
          </a:p>
        </p:txBody>
      </p:sp>
      <p:sp>
        <p:nvSpPr>
          <p:cNvPr id="12" name="Shape 10"/>
          <p:cNvSpPr/>
          <p:nvPr/>
        </p:nvSpPr>
        <p:spPr>
          <a:xfrm>
            <a:off x="621792" y="3465576"/>
            <a:ext cx="548640" cy="548640"/>
          </a:xfrm>
          <a:prstGeom prst="ellipse">
            <a:avLst/>
          </a:prstGeom>
          <a:solidFill>
            <a:srgbClr val="152238"/>
          </a:solidFill>
        </p:spPr>
      </p:sp>
      <p:sp>
        <p:nvSpPr>
          <p:cNvPr id="13" name="Text 11"/>
          <p:cNvSpPr txBox="1"/>
          <p:nvPr/>
        </p:nvSpPr>
        <p:spPr>
          <a:xfrm>
            <a:off x="621792" y="3465576"/>
            <a:ext cx="548640" cy="548640"/>
          </a:xfrm>
          <a:prstGeom prst="rect">
            <a:avLst/>
          </a:prstGeom>
          <a:noFill/>
        </p:spPr>
        <p:txBody>
          <a:bodyPr wrap="square" lIns="0" tIns="0" rIns="0" bIns="0" rtlCol="0" anchor="ctr"/>
          <a:lstStyle/>
          <a:p>
            <a:pPr marL="0" indent="0" algn="ctr">
              <a:buNone/>
            </a:pPr>
            <a:r>
              <a:rPr lang="en-US" sz="1560" b="1" dirty="0">
                <a:solidFill>
                  <a:srgbClr val="FF9900"/>
                </a:solidFill>
                <a:latin typeface="Cambria" panose="02040503050406030204" pitchFamily="34" charset="0"/>
                <a:ea typeface="Cambria" panose="02040503050406030204" pitchFamily="34" charset="-122"/>
                <a:cs typeface="Cambria" panose="02040503050406030204" pitchFamily="34" charset="-120"/>
              </a:rPr>
              <a:t>3</a:t>
            </a:r>
            <a:endParaRPr lang="en-US" sz="1560" dirty="0"/>
          </a:p>
        </p:txBody>
      </p:sp>
      <p:sp>
        <p:nvSpPr>
          <p:cNvPr id="14" name="Text 12"/>
          <p:cNvSpPr txBox="1"/>
          <p:nvPr/>
        </p:nvSpPr>
        <p:spPr>
          <a:xfrm>
            <a:off x="1353312" y="3419856"/>
            <a:ext cx="4251960" cy="365760"/>
          </a:xfrm>
          <a:prstGeom prst="rect">
            <a:avLst/>
          </a:prstGeom>
          <a:noFill/>
        </p:spPr>
        <p:txBody>
          <a:bodyPr wrap="square" lIns="0" tIns="0" rIns="0" bIns="0" rtlCol="0" anchor="ctr"/>
          <a:lstStyle/>
          <a:p>
            <a:pPr marL="0" indent="0">
              <a:buNone/>
            </a:pPr>
            <a:r>
              <a:rPr lang="en-US" sz="1450" b="1" dirty="0">
                <a:solidFill>
                  <a:srgbClr val="16213A"/>
                </a:solidFill>
                <a:latin typeface="Cambria" panose="02040503050406030204" pitchFamily="34" charset="0"/>
                <a:ea typeface="Cambria" panose="02040503050406030204" pitchFamily="34" charset="-122"/>
                <a:cs typeface="Cambria" panose="02040503050406030204" pitchFamily="34" charset="-120"/>
              </a:rPr>
              <a:t>Create the Private Subnet</a:t>
            </a:r>
            <a:endParaRPr lang="en-US" sz="1450" dirty="0"/>
          </a:p>
        </p:txBody>
      </p:sp>
      <p:sp>
        <p:nvSpPr>
          <p:cNvPr id="15" name="Text 13"/>
          <p:cNvSpPr txBox="1"/>
          <p:nvPr/>
        </p:nvSpPr>
        <p:spPr>
          <a:xfrm>
            <a:off x="1353312" y="3758184"/>
            <a:ext cx="4251960" cy="594360"/>
          </a:xfrm>
          <a:prstGeom prst="rect">
            <a:avLst/>
          </a:prstGeom>
          <a:noFill/>
        </p:spPr>
        <p:txBody>
          <a:bodyPr wrap="square" lIns="0" tIns="0" rIns="0" bIns="0" rtlCol="0" anchor="ctr"/>
          <a:lstStyle/>
          <a:p>
            <a:pPr marL="0" indent="0">
              <a:lnSpc>
                <a:spcPct val="120000"/>
              </a:lnSpc>
              <a:buNone/>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Project6-Private-Subnet — IPv4 CIDR 10.0.2.0/24, in the same Availability Zone.</a:t>
            </a:r>
            <a:endParaRPr lang="en-US" sz="1150" dirty="0"/>
          </a:p>
        </p:txBody>
      </p:sp>
      <p:sp>
        <p:nvSpPr>
          <p:cNvPr id="16" name="Shape 14"/>
          <p:cNvSpPr/>
          <p:nvPr/>
        </p:nvSpPr>
        <p:spPr>
          <a:xfrm>
            <a:off x="5751576" y="1636776"/>
            <a:ext cx="2898648" cy="1572768"/>
          </a:xfrm>
          <a:prstGeom prst="roundRect">
            <a:avLst>
              <a:gd name="adj" fmla="val 2907"/>
            </a:avLst>
          </a:prstGeom>
          <a:solidFill>
            <a:srgbClr val="FFFFFF"/>
          </a:solidFill>
          <a:ln w="12700">
            <a:solidFill>
              <a:srgbClr val="D5DEEC"/>
            </a:solidFill>
            <a:prstDash val="solid"/>
          </a:ln>
          <a:effectLst>
            <a:outerShdw blurRad="88900" dist="25400" dir="5400000" algn="bl" rotWithShape="0">
              <a:srgbClr val="8CA0BF">
                <a:alpha val="25000"/>
              </a:srgbClr>
            </a:outerShdw>
          </a:effectLst>
        </p:spPr>
      </p:sp>
      <p:pic>
        <p:nvPicPr>
          <p:cNvPr id="17" name="Image 0" descr="/home/claude/ec2ppt/pdfimg/img-000.png"/>
          <p:cNvPicPr>
            <a:picLocks noChangeAspect="1"/>
          </p:cNvPicPr>
          <p:nvPr/>
        </p:nvPicPr>
        <p:blipFill>
          <a:blip r:embed="rId1"/>
          <a:stretch>
            <a:fillRect/>
          </a:stretch>
        </p:blipFill>
        <p:spPr>
          <a:xfrm>
            <a:off x="5806440" y="1691640"/>
            <a:ext cx="2788920" cy="1463040"/>
          </a:xfrm>
          <a:prstGeom prst="rect">
            <a:avLst/>
          </a:prstGeom>
        </p:spPr>
      </p:pic>
      <p:sp>
        <p:nvSpPr>
          <p:cNvPr id="18" name="Text 15"/>
          <p:cNvSpPr txBox="1"/>
          <p:nvPr/>
        </p:nvSpPr>
        <p:spPr>
          <a:xfrm>
            <a:off x="5806440" y="3200400"/>
            <a:ext cx="2788920" cy="256032"/>
          </a:xfrm>
          <a:prstGeom prst="rect">
            <a:avLst/>
          </a:prstGeom>
          <a:noFill/>
        </p:spPr>
        <p:txBody>
          <a:bodyPr wrap="square" lIns="0" tIns="0" rIns="0" bIns="0" rtlCol="0" anchor="ctr"/>
          <a:lstStyle/>
          <a:p>
            <a:pPr marL="0" indent="0" algn="ctr">
              <a:buNone/>
            </a:pPr>
            <a:r>
              <a:rPr lang="en-US" sz="950" i="1" dirty="0">
                <a:solidFill>
                  <a:srgbClr val="5A6B87"/>
                </a:solidFill>
                <a:latin typeface="Calibri" panose="020F0502020204030204" pitchFamily="34" charset="0"/>
                <a:ea typeface="Calibri" panose="020F0502020204030204" pitchFamily="34" charset="-122"/>
                <a:cs typeface="Calibri" panose="020F0502020204030204" pitchFamily="34" charset="-120"/>
              </a:rPr>
              <a:t>VPC console — Project6-VPC (Available)</a:t>
            </a:r>
            <a:endParaRPr lang="en-US" sz="950" dirty="0"/>
          </a:p>
        </p:txBody>
      </p:sp>
      <p:sp>
        <p:nvSpPr>
          <p:cNvPr id="19" name="Shape 16"/>
          <p:cNvSpPr/>
          <p:nvPr/>
        </p:nvSpPr>
        <p:spPr>
          <a:xfrm>
            <a:off x="8769096" y="1636776"/>
            <a:ext cx="2898648" cy="1600200"/>
          </a:xfrm>
          <a:prstGeom prst="roundRect">
            <a:avLst>
              <a:gd name="adj" fmla="val 2857"/>
            </a:avLst>
          </a:prstGeom>
          <a:solidFill>
            <a:srgbClr val="FFFFFF"/>
          </a:solidFill>
          <a:ln w="12700">
            <a:solidFill>
              <a:srgbClr val="D5DEEC"/>
            </a:solidFill>
            <a:prstDash val="solid"/>
          </a:ln>
          <a:effectLst>
            <a:outerShdw blurRad="88900" dist="25400" dir="5400000" algn="bl" rotWithShape="0">
              <a:srgbClr val="8CA0BF">
                <a:alpha val="25000"/>
              </a:srgbClr>
            </a:outerShdw>
          </a:effectLst>
        </p:spPr>
      </p:sp>
      <p:pic>
        <p:nvPicPr>
          <p:cNvPr id="20" name="Image 1" descr="/home/claude/ec2ppt/pdfimg/img-001.png"/>
          <p:cNvPicPr>
            <a:picLocks noChangeAspect="1"/>
          </p:cNvPicPr>
          <p:nvPr/>
        </p:nvPicPr>
        <p:blipFill>
          <a:blip r:embed="rId2"/>
          <a:stretch>
            <a:fillRect/>
          </a:stretch>
        </p:blipFill>
        <p:spPr>
          <a:xfrm>
            <a:off x="8823960" y="1691640"/>
            <a:ext cx="2788920" cy="1490472"/>
          </a:xfrm>
          <a:prstGeom prst="rect">
            <a:avLst/>
          </a:prstGeom>
        </p:spPr>
      </p:pic>
      <p:sp>
        <p:nvSpPr>
          <p:cNvPr id="21" name="Text 17"/>
          <p:cNvSpPr txBox="1"/>
          <p:nvPr/>
        </p:nvSpPr>
        <p:spPr>
          <a:xfrm>
            <a:off x="8823960" y="3227832"/>
            <a:ext cx="2788920" cy="256032"/>
          </a:xfrm>
          <a:prstGeom prst="rect">
            <a:avLst/>
          </a:prstGeom>
          <a:noFill/>
        </p:spPr>
        <p:txBody>
          <a:bodyPr wrap="square" lIns="0" tIns="0" rIns="0" bIns="0" rtlCol="0" anchor="ctr"/>
          <a:lstStyle/>
          <a:p>
            <a:pPr marL="0" indent="0" algn="ctr">
              <a:buNone/>
            </a:pPr>
            <a:r>
              <a:rPr lang="en-US" sz="950" i="1" dirty="0">
                <a:solidFill>
                  <a:srgbClr val="5A6B87"/>
                </a:solidFill>
                <a:latin typeface="Calibri" panose="020F0502020204030204" pitchFamily="34" charset="0"/>
                <a:ea typeface="Calibri" panose="020F0502020204030204" pitchFamily="34" charset="-122"/>
                <a:cs typeface="Calibri" panose="020F0502020204030204" pitchFamily="34" charset="-120"/>
              </a:rPr>
              <a:t>Subnets console — public &amp; private</a:t>
            </a:r>
            <a:endParaRPr lang="en-US" sz="950" dirty="0"/>
          </a:p>
        </p:txBody>
      </p:sp>
      <p:sp>
        <p:nvSpPr>
          <p:cNvPr id="22" name="Shape 18"/>
          <p:cNvSpPr/>
          <p:nvPr/>
        </p:nvSpPr>
        <p:spPr>
          <a:xfrm>
            <a:off x="621792" y="4663440"/>
            <a:ext cx="10954512" cy="1417320"/>
          </a:xfrm>
          <a:prstGeom prst="roundRect">
            <a:avLst>
              <a:gd name="adj" fmla="val 5161"/>
            </a:avLst>
          </a:prstGeom>
          <a:solidFill>
            <a:srgbClr val="FFFFFF"/>
          </a:solidFill>
          <a:ln w="12700">
            <a:solidFill>
              <a:srgbClr val="DCE3F0"/>
            </a:solidFill>
            <a:prstDash val="solid"/>
          </a:ln>
          <a:effectLst>
            <a:outerShdw blurRad="76200" dist="25400" dir="5400000" algn="bl" rotWithShape="0">
              <a:srgbClr val="8CA0BF">
                <a:alpha val="18000"/>
              </a:srgbClr>
            </a:outerShdw>
          </a:effectLst>
        </p:spPr>
      </p:sp>
      <p:sp>
        <p:nvSpPr>
          <p:cNvPr id="23" name="Text 19"/>
          <p:cNvSpPr txBox="1"/>
          <p:nvPr/>
        </p:nvSpPr>
        <p:spPr>
          <a:xfrm>
            <a:off x="896112" y="4800600"/>
            <a:ext cx="2743200" cy="274320"/>
          </a:xfrm>
          <a:prstGeom prst="rect">
            <a:avLst/>
          </a:prstGeom>
          <a:noFill/>
        </p:spPr>
        <p:txBody>
          <a:bodyPr wrap="square" lIns="0" tIns="0" rIns="0" bIns="0" rtlCol="0" anchor="ctr"/>
          <a:lstStyle/>
          <a:p>
            <a:pPr marL="0" indent="0">
              <a:buNone/>
            </a:pPr>
            <a:r>
              <a:rPr lang="en-US" sz="1050" b="1" kern="0" spc="150" dirty="0">
                <a:solidFill>
                  <a:srgbClr val="FF9900"/>
                </a:solidFill>
                <a:latin typeface="Calibri" panose="020F0502020204030204" pitchFamily="34" charset="0"/>
                <a:ea typeface="Calibri" panose="020F0502020204030204" pitchFamily="34" charset="-122"/>
                <a:cs typeface="Calibri" panose="020F0502020204030204" pitchFamily="34" charset="-120"/>
              </a:rPr>
              <a:t>RESULT</a:t>
            </a:r>
            <a:endParaRPr lang="en-US" sz="1050" dirty="0"/>
          </a:p>
        </p:txBody>
      </p:sp>
      <p:sp>
        <p:nvSpPr>
          <p:cNvPr id="24" name="Text 20"/>
          <p:cNvSpPr txBox="1"/>
          <p:nvPr/>
        </p:nvSpPr>
        <p:spPr>
          <a:xfrm>
            <a:off x="896112" y="5102352"/>
            <a:ext cx="10424160" cy="868680"/>
          </a:xfrm>
          <a:prstGeom prst="rect">
            <a:avLst/>
          </a:prstGeom>
          <a:noFill/>
        </p:spPr>
        <p:txBody>
          <a:bodyPr wrap="square" lIns="0" tIns="0" rIns="0" bIns="0" rtlCol="0" anchor="ctr"/>
          <a:lstStyle/>
          <a:p>
            <a:pPr marL="0" indent="0">
              <a:lnSpc>
                <a:spcPct val="125000"/>
              </a:lnSpc>
              <a:buNone/>
            </a:pPr>
            <a:r>
              <a:rPr lang="en-US" sz="1250" dirty="0">
                <a:solidFill>
                  <a:srgbClr val="5A6B87"/>
                </a:solidFill>
                <a:latin typeface="Calibri" panose="020F0502020204030204" pitchFamily="34" charset="0"/>
                <a:ea typeface="Calibri" panose="020F0502020204030204" pitchFamily="34" charset="-122"/>
                <a:cs typeface="Calibri" panose="020F0502020204030204" pitchFamily="34" charset="-120"/>
              </a:rPr>
              <a:t>A custom VPC was verified as Available, with a public subnet (10.0.1.0/24) and a private subnet (10.0.2.0/24) both provisioned inside it — the network foundation the rest of the project builds on.</a:t>
            </a:r>
            <a:endParaRPr lang="en-US" sz="1250" dirty="0"/>
          </a:p>
        </p:txBody>
      </p:sp>
      <p:sp>
        <p:nvSpPr>
          <p:cNvPr id="25" name="Text 21"/>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26" name="Text 22"/>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PHASE 2 — MUDIT CHAUDHARY</a:t>
            </a:r>
            <a:endParaRPr lang="en-US" sz="1200" dirty="0"/>
          </a:p>
        </p:txBody>
      </p:sp>
      <p:sp>
        <p:nvSpPr>
          <p:cNvPr id="3" name="Text 1"/>
          <p:cNvSpPr txBox="1"/>
          <p:nvPr/>
        </p:nvSpPr>
        <p:spPr>
          <a:xfrm>
            <a:off x="594360" y="731520"/>
            <a:ext cx="9144000" cy="594360"/>
          </a:xfrm>
          <a:prstGeom prst="rect">
            <a:avLst/>
          </a:prstGeom>
          <a:noFill/>
        </p:spPr>
        <p:txBody>
          <a:bodyPr wrap="square" lIns="0" tIns="0" rIns="0" bIns="0" rtlCol="0" anchor="ctr"/>
          <a:lstStyle/>
          <a:p>
            <a:pPr marL="0" indent="0">
              <a:buNone/>
            </a:pPr>
            <a:r>
              <a:rPr lang="en-US" sz="2800" b="1" dirty="0">
                <a:solidFill>
                  <a:srgbClr val="16213A"/>
                </a:solidFill>
                <a:latin typeface="Cambria" panose="02040503050406030204" pitchFamily="34" charset="0"/>
                <a:ea typeface="Cambria" panose="02040503050406030204" pitchFamily="34" charset="-122"/>
                <a:cs typeface="Cambria" panose="02040503050406030204" pitchFamily="34" charset="-120"/>
              </a:rPr>
              <a:t>Gateway, Routing &amp; Security Groups</a:t>
            </a:r>
            <a:endParaRPr lang="en-US" sz="2800" dirty="0"/>
          </a:p>
        </p:txBody>
      </p:sp>
      <p:sp>
        <p:nvSpPr>
          <p:cNvPr id="4" name="Text 2"/>
          <p:cNvSpPr txBox="1"/>
          <p:nvPr/>
        </p:nvSpPr>
        <p:spPr>
          <a:xfrm>
            <a:off x="621792" y="1554480"/>
            <a:ext cx="5486400" cy="320040"/>
          </a:xfrm>
          <a:prstGeom prst="rect">
            <a:avLst/>
          </a:prstGeom>
          <a:noFill/>
        </p:spPr>
        <p:txBody>
          <a:bodyPr wrap="square" lIns="0" tIns="0" rIns="0" bIns="0" rtlCol="0" anchor="ctr"/>
          <a:lstStyle/>
          <a:p>
            <a:pPr marL="0" indent="0">
              <a:buNone/>
            </a:pPr>
            <a:r>
              <a:rPr lang="en-US" sz="1500" b="1" dirty="0">
                <a:solidFill>
                  <a:srgbClr val="152238"/>
                </a:solidFill>
                <a:latin typeface="Cambria" panose="02040503050406030204" pitchFamily="34" charset="0"/>
                <a:ea typeface="Cambria" panose="02040503050406030204" pitchFamily="34" charset="-122"/>
                <a:cs typeface="Cambria" panose="02040503050406030204" pitchFamily="34" charset="-120"/>
              </a:rPr>
              <a:t>Internet Gateway &amp; Route Tables</a:t>
            </a:r>
            <a:endParaRPr lang="en-US" sz="1500" dirty="0"/>
          </a:p>
        </p:txBody>
      </p:sp>
      <p:sp>
        <p:nvSpPr>
          <p:cNvPr id="5" name="Text 3"/>
          <p:cNvSpPr txBox="1"/>
          <p:nvPr/>
        </p:nvSpPr>
        <p:spPr>
          <a:xfrm>
            <a:off x="621792" y="1920240"/>
            <a:ext cx="5486400" cy="1920240"/>
          </a:xfrm>
          <a:prstGeom prst="rect">
            <a:avLst/>
          </a:prstGeom>
          <a:noFill/>
        </p:spPr>
        <p:txBody>
          <a:bodyPr wrap="square" lIns="0" tIns="0" rIns="0" bIns="0" rtlCol="0" anchor="ctr"/>
          <a:lstStyle/>
          <a:p>
            <a:pPr marL="342900" indent="-342900">
              <a:lnSpc>
                <a:spcPct val="120000"/>
              </a:lnSpc>
              <a:spcAft>
                <a:spcPts val="1000"/>
              </a:spcAft>
              <a:buSzPct val="100000"/>
              <a:buChar char="•"/>
            </a:pPr>
            <a:r>
              <a:rPr lang="en-US" sz="1200" dirty="0">
                <a:solidFill>
                  <a:srgbClr val="5A6B87"/>
                </a:solidFill>
                <a:latin typeface="Calibri" panose="020F0502020204030204" pitchFamily="34" charset="0"/>
                <a:ea typeface="Calibri" panose="020F0502020204030204" pitchFamily="34" charset="-122"/>
                <a:cs typeface="Calibri" panose="020F0502020204030204" pitchFamily="34" charset="-120"/>
              </a:rPr>
              <a:t>Created Project6-IGW and attached it to Project6-VPC</a:t>
            </a:r>
            <a:endParaRPr lang="en-US" sz="1200" dirty="0"/>
          </a:p>
          <a:p>
            <a:pPr marL="342900" indent="-342900">
              <a:lnSpc>
                <a:spcPct val="120000"/>
              </a:lnSpc>
              <a:spcAft>
                <a:spcPts val="1000"/>
              </a:spcAft>
              <a:buSzPct val="100000"/>
              <a:buChar char="•"/>
            </a:pPr>
            <a:r>
              <a:rPr lang="en-US" sz="12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Project6-Public-RT: added route 0.0.0.0/0 → Internet Gateway</a:t>
            </a:r>
            <a:endParaRPr lang="en-US" sz="1200" dirty="0"/>
          </a:p>
          <a:p>
            <a:pPr marL="342900" indent="-342900">
              <a:lnSpc>
                <a:spcPct val="120000"/>
              </a:lnSpc>
              <a:spcAft>
                <a:spcPts val="1000"/>
              </a:spcAft>
              <a:buSzPct val="100000"/>
              <a:buChar char="•"/>
            </a:pPr>
            <a:r>
              <a:rPr lang="en-US" sz="1200" dirty="0">
                <a:solidFill>
                  <a:srgbClr val="5A6B87"/>
                </a:solidFill>
                <a:latin typeface="Calibri" panose="020F0502020204030204" pitchFamily="34" charset="0"/>
                <a:ea typeface="Calibri" panose="020F0502020204030204" pitchFamily="34" charset="-122"/>
                <a:cs typeface="Calibri" panose="020F0502020204030204" pitchFamily="34" charset="-120"/>
              </a:rPr>
              <a:t>Associated the Public Subnet with Project6-Public-RT</a:t>
            </a:r>
            <a:endParaRPr lang="en-US" sz="1200" dirty="0"/>
          </a:p>
          <a:p>
            <a:pPr marL="342900" indent="-342900">
              <a:lnSpc>
                <a:spcPct val="120000"/>
              </a:lnSpc>
              <a:spcAft>
                <a:spcPts val="1000"/>
              </a:spcAft>
              <a:buSzPct val="100000"/>
              <a:buChar char="•"/>
            </a:pPr>
            <a:r>
              <a:rPr lang="en-US" sz="1200" dirty="0">
                <a:solidFill>
                  <a:srgbClr val="5A6B87"/>
                </a:solidFill>
                <a:latin typeface="Calibri" panose="020F0502020204030204" pitchFamily="34" charset="0"/>
                <a:ea typeface="Calibri" panose="020F0502020204030204" pitchFamily="34" charset="-122"/>
                <a:cs typeface="Calibri" panose="020F0502020204030204" pitchFamily="34" charset="-120"/>
              </a:rPr>
              <a:t>Associated the Private Subnet with a separate Project6-Private-RT</a:t>
            </a:r>
            <a:endParaRPr lang="en-US" sz="1200" dirty="0"/>
          </a:p>
          <a:p>
            <a:pPr marL="342900" indent="-342900">
              <a:lnSpc>
                <a:spcPct val="120000"/>
              </a:lnSpc>
              <a:spcAft>
                <a:spcPts val="1000"/>
              </a:spcAft>
              <a:buSzPct val="100000"/>
              <a:buChar char="•"/>
            </a:pPr>
            <a:r>
              <a:rPr lang="en-US" sz="1200" dirty="0">
                <a:solidFill>
                  <a:srgbClr val="5A6B87"/>
                </a:solidFill>
                <a:latin typeface="Calibri" panose="020F0502020204030204" pitchFamily="34" charset="0"/>
                <a:ea typeface="Calibri" panose="020F0502020204030204" pitchFamily="34" charset="-122"/>
                <a:cs typeface="Calibri" panose="020F0502020204030204" pitchFamily="34" charset="-120"/>
              </a:rPr>
              <a:t>No Internet Gateway route was added to the Private Route Table</a:t>
            </a:r>
            <a:endParaRPr lang="en-US" sz="1200" dirty="0"/>
          </a:p>
        </p:txBody>
      </p:sp>
      <p:sp>
        <p:nvSpPr>
          <p:cNvPr id="6" name="Text 4"/>
          <p:cNvSpPr txBox="1"/>
          <p:nvPr/>
        </p:nvSpPr>
        <p:spPr>
          <a:xfrm>
            <a:off x="621792" y="3886200"/>
            <a:ext cx="5486400" cy="320040"/>
          </a:xfrm>
          <a:prstGeom prst="rect">
            <a:avLst/>
          </a:prstGeom>
          <a:noFill/>
        </p:spPr>
        <p:txBody>
          <a:bodyPr wrap="square" lIns="0" tIns="0" rIns="0" bIns="0" rtlCol="0" anchor="ctr"/>
          <a:lstStyle/>
          <a:p>
            <a:pPr marL="0" indent="0">
              <a:buNone/>
            </a:pPr>
            <a:r>
              <a:rPr lang="en-US" sz="1500" b="1" dirty="0">
                <a:solidFill>
                  <a:srgbClr val="152238"/>
                </a:solidFill>
                <a:latin typeface="Cambria" panose="02040503050406030204" pitchFamily="34" charset="0"/>
                <a:ea typeface="Cambria" panose="02040503050406030204" pitchFamily="34" charset="-122"/>
                <a:cs typeface="Cambria" panose="02040503050406030204" pitchFamily="34" charset="-120"/>
              </a:rPr>
              <a:t>Security Groups</a:t>
            </a:r>
            <a:endParaRPr lang="en-US" sz="1500" dirty="0"/>
          </a:p>
        </p:txBody>
      </p:sp>
      <p:sp>
        <p:nvSpPr>
          <p:cNvPr id="7" name="Shape 5"/>
          <p:cNvSpPr/>
          <p:nvPr/>
        </p:nvSpPr>
        <p:spPr>
          <a:xfrm>
            <a:off x="621792" y="4251960"/>
            <a:ext cx="402336" cy="402336"/>
          </a:xfrm>
          <a:prstGeom prst="ellipse">
            <a:avLst/>
          </a:prstGeom>
          <a:solidFill>
            <a:srgbClr val="FF9900"/>
          </a:solidFill>
        </p:spPr>
      </p:sp>
      <p:sp>
        <p:nvSpPr>
          <p:cNvPr id="8" name="Text 6"/>
          <p:cNvSpPr txBox="1"/>
          <p:nvPr/>
        </p:nvSpPr>
        <p:spPr>
          <a:xfrm>
            <a:off x="621792" y="4251960"/>
            <a:ext cx="402336" cy="402336"/>
          </a:xfrm>
          <a:prstGeom prst="rect">
            <a:avLst/>
          </a:prstGeom>
          <a:noFill/>
        </p:spPr>
        <p:txBody>
          <a:bodyPr wrap="square" lIns="0" tIns="0" rIns="0" bIns="0" rtlCol="0" anchor="ctr"/>
          <a:lstStyle/>
          <a:p>
            <a:pPr marL="0" indent="0" algn="ctr">
              <a:buNone/>
            </a:pPr>
            <a:r>
              <a:rPr lang="en-US" sz="1145"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9" name="Text 7"/>
          <p:cNvSpPr txBox="1"/>
          <p:nvPr/>
        </p:nvSpPr>
        <p:spPr>
          <a:xfrm>
            <a:off x="1143000" y="4233672"/>
            <a:ext cx="1737360" cy="438912"/>
          </a:xfrm>
          <a:prstGeom prst="rect">
            <a:avLst/>
          </a:prstGeom>
          <a:noFill/>
        </p:spPr>
        <p:txBody>
          <a:bodyPr wrap="square" lIns="0" tIns="0" rIns="0" bIns="0" rtlCol="0" anchor="ctr"/>
          <a:lstStyle/>
          <a:p>
            <a:pPr marL="0" indent="0">
              <a:buNone/>
            </a:pPr>
            <a:r>
              <a:rPr lang="en-US" sz="1150" b="1" dirty="0">
                <a:solidFill>
                  <a:srgbClr val="16213A"/>
                </a:solidFill>
                <a:latin typeface="Calibri" panose="020F0502020204030204" pitchFamily="34" charset="0"/>
                <a:ea typeface="Calibri" panose="020F0502020204030204" pitchFamily="34" charset="-122"/>
                <a:cs typeface="Calibri" panose="020F0502020204030204" pitchFamily="34" charset="-120"/>
              </a:rPr>
              <a:t>Public EC2 SG — </a:t>
            </a:r>
            <a:endParaRPr lang="en-US" sz="1150" dirty="0"/>
          </a:p>
        </p:txBody>
      </p:sp>
      <p:sp>
        <p:nvSpPr>
          <p:cNvPr id="10" name="Text 8"/>
          <p:cNvSpPr txBox="1"/>
          <p:nvPr/>
        </p:nvSpPr>
        <p:spPr>
          <a:xfrm>
            <a:off x="2651760" y="4233672"/>
            <a:ext cx="3520440" cy="438912"/>
          </a:xfrm>
          <a:prstGeom prst="rect">
            <a:avLst/>
          </a:prstGeom>
          <a:noFill/>
        </p:spPr>
        <p:txBody>
          <a:bodyPr wrap="square" lIns="0" tIns="0" rIns="0" bIns="0" rtlCol="0" anchor="ctr"/>
          <a:lstStyle/>
          <a:p>
            <a:pPr marL="0" indent="0">
              <a:lnSpc>
                <a:spcPct val="110000"/>
              </a:lnSpc>
              <a:buNone/>
            </a:pPr>
            <a:r>
              <a:rPr lang="en-US" sz="1080" dirty="0">
                <a:solidFill>
                  <a:srgbClr val="5A6B87"/>
                </a:solidFill>
                <a:latin typeface="Calibri" panose="020F0502020204030204" pitchFamily="34" charset="0"/>
                <a:ea typeface="Calibri" panose="020F0502020204030204" pitchFamily="34" charset="-122"/>
                <a:cs typeface="Calibri" panose="020F0502020204030204" pitchFamily="34" charset="-120"/>
              </a:rPr>
              <a:t>Inbound SSH (port 22) — Source: My IP</a:t>
            </a:r>
            <a:endParaRPr lang="en-US" sz="1080" dirty="0"/>
          </a:p>
        </p:txBody>
      </p:sp>
      <p:sp>
        <p:nvSpPr>
          <p:cNvPr id="11" name="Shape 9"/>
          <p:cNvSpPr/>
          <p:nvPr/>
        </p:nvSpPr>
        <p:spPr>
          <a:xfrm>
            <a:off x="621792" y="4818888"/>
            <a:ext cx="402336" cy="402336"/>
          </a:xfrm>
          <a:prstGeom prst="ellipse">
            <a:avLst/>
          </a:prstGeom>
          <a:solidFill>
            <a:srgbClr val="FF9900"/>
          </a:solidFill>
        </p:spPr>
      </p:sp>
      <p:sp>
        <p:nvSpPr>
          <p:cNvPr id="12" name="Text 10"/>
          <p:cNvSpPr txBox="1"/>
          <p:nvPr/>
        </p:nvSpPr>
        <p:spPr>
          <a:xfrm>
            <a:off x="621792" y="4818888"/>
            <a:ext cx="402336" cy="402336"/>
          </a:xfrm>
          <a:prstGeom prst="rect">
            <a:avLst/>
          </a:prstGeom>
          <a:noFill/>
        </p:spPr>
        <p:txBody>
          <a:bodyPr wrap="square" lIns="0" tIns="0" rIns="0" bIns="0" rtlCol="0" anchor="ctr"/>
          <a:lstStyle/>
          <a:p>
            <a:pPr marL="0" indent="0" algn="ctr">
              <a:buNone/>
            </a:pPr>
            <a:r>
              <a:rPr lang="en-US" sz="1145"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13" name="Text 11"/>
          <p:cNvSpPr txBox="1"/>
          <p:nvPr/>
        </p:nvSpPr>
        <p:spPr>
          <a:xfrm>
            <a:off x="1143000" y="4800600"/>
            <a:ext cx="1737360" cy="438912"/>
          </a:xfrm>
          <a:prstGeom prst="rect">
            <a:avLst/>
          </a:prstGeom>
          <a:noFill/>
        </p:spPr>
        <p:txBody>
          <a:bodyPr wrap="square" lIns="0" tIns="0" rIns="0" bIns="0" rtlCol="0" anchor="ctr"/>
          <a:lstStyle/>
          <a:p>
            <a:pPr marL="0" indent="0">
              <a:buNone/>
            </a:pPr>
            <a:r>
              <a:rPr lang="en-US" sz="1150" b="1" dirty="0">
                <a:solidFill>
                  <a:srgbClr val="16213A"/>
                </a:solidFill>
                <a:latin typeface="Calibri" panose="020F0502020204030204" pitchFamily="34" charset="0"/>
                <a:ea typeface="Calibri" panose="020F0502020204030204" pitchFamily="34" charset="-122"/>
                <a:cs typeface="Calibri" panose="020F0502020204030204" pitchFamily="34" charset="-120"/>
              </a:rPr>
              <a:t>Private EC2 SG — </a:t>
            </a:r>
            <a:endParaRPr lang="en-US" sz="1150" dirty="0"/>
          </a:p>
        </p:txBody>
      </p:sp>
      <p:sp>
        <p:nvSpPr>
          <p:cNvPr id="14" name="Text 12"/>
          <p:cNvSpPr txBox="1"/>
          <p:nvPr/>
        </p:nvSpPr>
        <p:spPr>
          <a:xfrm>
            <a:off x="2651760" y="4800600"/>
            <a:ext cx="3520440" cy="438912"/>
          </a:xfrm>
          <a:prstGeom prst="rect">
            <a:avLst/>
          </a:prstGeom>
          <a:noFill/>
        </p:spPr>
        <p:txBody>
          <a:bodyPr wrap="square" lIns="0" tIns="0" rIns="0" bIns="0" rtlCol="0" anchor="ctr"/>
          <a:lstStyle/>
          <a:p>
            <a:pPr marL="0" indent="0">
              <a:lnSpc>
                <a:spcPct val="110000"/>
              </a:lnSpc>
              <a:buNone/>
            </a:pPr>
            <a:r>
              <a:rPr lang="en-US" sz="1080" dirty="0">
                <a:solidFill>
                  <a:srgbClr val="5A6B87"/>
                </a:solidFill>
                <a:latin typeface="Calibri" panose="020F0502020204030204" pitchFamily="34" charset="0"/>
                <a:ea typeface="Calibri" panose="020F0502020204030204" pitchFamily="34" charset="-122"/>
                <a:cs typeface="Calibri" panose="020F0502020204030204" pitchFamily="34" charset="-120"/>
              </a:rPr>
              <a:t>Inbound All ICMP – IPv4 — Source: 10.0.1.0/24 (lets the public EC2 ping the private EC2)</a:t>
            </a:r>
            <a:endParaRPr lang="en-US" sz="1080" dirty="0"/>
          </a:p>
        </p:txBody>
      </p:sp>
      <p:sp>
        <p:nvSpPr>
          <p:cNvPr id="15" name="Shape 13"/>
          <p:cNvSpPr/>
          <p:nvPr/>
        </p:nvSpPr>
        <p:spPr>
          <a:xfrm>
            <a:off x="6483096" y="1545336"/>
            <a:ext cx="5138928" cy="2551176"/>
          </a:xfrm>
          <a:prstGeom prst="roundRect">
            <a:avLst>
              <a:gd name="adj" fmla="val 1792"/>
            </a:avLst>
          </a:prstGeom>
          <a:solidFill>
            <a:srgbClr val="FFFFFF"/>
          </a:solidFill>
          <a:ln w="12700">
            <a:solidFill>
              <a:srgbClr val="D5DEEC"/>
            </a:solidFill>
            <a:prstDash val="solid"/>
          </a:ln>
          <a:effectLst>
            <a:outerShdw blurRad="88900" dist="25400" dir="5400000" algn="bl" rotWithShape="0">
              <a:srgbClr val="8CA0BF">
                <a:alpha val="25000"/>
              </a:srgbClr>
            </a:outerShdw>
          </a:effectLst>
        </p:spPr>
      </p:sp>
      <p:pic>
        <p:nvPicPr>
          <p:cNvPr id="16" name="Image 0" descr="/home/claude/ec2ppt/pdfimg/img-008.png"/>
          <p:cNvPicPr>
            <a:picLocks noChangeAspect="1"/>
          </p:cNvPicPr>
          <p:nvPr/>
        </p:nvPicPr>
        <p:blipFill>
          <a:blip r:embed="rId1"/>
          <a:stretch>
            <a:fillRect/>
          </a:stretch>
        </p:blipFill>
        <p:spPr>
          <a:xfrm>
            <a:off x="6537960" y="1600200"/>
            <a:ext cx="5029200" cy="2441448"/>
          </a:xfrm>
          <a:prstGeom prst="rect">
            <a:avLst/>
          </a:prstGeom>
        </p:spPr>
      </p:pic>
      <p:sp>
        <p:nvSpPr>
          <p:cNvPr id="17" name="Text 14"/>
          <p:cNvSpPr txBox="1"/>
          <p:nvPr/>
        </p:nvSpPr>
        <p:spPr>
          <a:xfrm>
            <a:off x="6537960" y="4096512"/>
            <a:ext cx="5029200" cy="274320"/>
          </a:xfrm>
          <a:prstGeom prst="rect">
            <a:avLst/>
          </a:prstGeom>
          <a:noFill/>
        </p:spPr>
        <p:txBody>
          <a:bodyPr wrap="square" lIns="0" tIns="0" rIns="0" bIns="0" rtlCol="0" anchor="ctr"/>
          <a:lstStyle/>
          <a:p>
            <a:pPr marL="0" indent="0" algn="ctr">
              <a:buNone/>
            </a:pPr>
            <a:r>
              <a:rPr lang="en-US" sz="1000" i="1" dirty="0">
                <a:solidFill>
                  <a:srgbClr val="5A6B87"/>
                </a:solidFill>
                <a:latin typeface="Calibri" panose="020F0502020204030204" pitchFamily="34" charset="0"/>
                <a:ea typeface="Calibri" panose="020F0502020204030204" pitchFamily="34" charset="-122"/>
                <a:cs typeface="Calibri" panose="020F0502020204030204" pitchFamily="34" charset="-120"/>
              </a:rPr>
              <a:t>Security Groups console — inbound rules (SSH 22, ICMP)</a:t>
            </a:r>
            <a:endParaRPr lang="en-US" sz="1000" dirty="0"/>
          </a:p>
        </p:txBody>
      </p:sp>
      <p:sp>
        <p:nvSpPr>
          <p:cNvPr id="18" name="Shape 15"/>
          <p:cNvSpPr/>
          <p:nvPr/>
        </p:nvSpPr>
        <p:spPr>
          <a:xfrm>
            <a:off x="6537960" y="4572000"/>
            <a:ext cx="5029200" cy="1508760"/>
          </a:xfrm>
          <a:prstGeom prst="roundRect">
            <a:avLst>
              <a:gd name="adj" fmla="val 4848"/>
            </a:avLst>
          </a:prstGeom>
          <a:solidFill>
            <a:srgbClr val="152238"/>
          </a:solidFill>
        </p:spPr>
      </p:sp>
      <p:sp>
        <p:nvSpPr>
          <p:cNvPr id="19" name="Text 16"/>
          <p:cNvSpPr txBox="1"/>
          <p:nvPr/>
        </p:nvSpPr>
        <p:spPr>
          <a:xfrm>
            <a:off x="6766560" y="4709160"/>
            <a:ext cx="3657600" cy="274320"/>
          </a:xfrm>
          <a:prstGeom prst="rect">
            <a:avLst/>
          </a:prstGeom>
          <a:noFill/>
        </p:spPr>
        <p:txBody>
          <a:bodyPr wrap="square" lIns="0" tIns="0" rIns="0" bIns="0" rtlCol="0" anchor="ctr"/>
          <a:lstStyle/>
          <a:p>
            <a:pPr marL="0" indent="0">
              <a:buNone/>
            </a:pPr>
            <a:r>
              <a:rPr lang="en-US" sz="1000" b="1" kern="0" spc="150" dirty="0">
                <a:solidFill>
                  <a:srgbClr val="FF9900"/>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000" dirty="0"/>
          </a:p>
        </p:txBody>
      </p:sp>
      <p:sp>
        <p:nvSpPr>
          <p:cNvPr id="20" name="Text 17"/>
          <p:cNvSpPr txBox="1"/>
          <p:nvPr/>
        </p:nvSpPr>
        <p:spPr>
          <a:xfrm>
            <a:off x="6766560" y="4983480"/>
            <a:ext cx="4572000" cy="1005840"/>
          </a:xfrm>
          <a:prstGeom prst="rect">
            <a:avLst/>
          </a:prstGeom>
          <a:noFill/>
        </p:spPr>
        <p:txBody>
          <a:bodyPr wrap="square" lIns="0" tIns="0" rIns="0" bIns="0" rtlCol="0" anchor="ctr"/>
          <a:lstStyle/>
          <a:p>
            <a:pPr marL="0" indent="0">
              <a:lnSpc>
                <a:spcPct val="12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Keeping the Internet Gateway route out of the private route table is what actually makes the private subnet private — even though its security group allows ICMP, there is simply no path to the internet.</a:t>
            </a:r>
            <a:endParaRPr lang="en-US" sz="1100" dirty="0"/>
          </a:p>
        </p:txBody>
      </p:sp>
      <p:sp>
        <p:nvSpPr>
          <p:cNvPr id="21" name="Text 18"/>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22" name="Text 19"/>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PHASE 3 — PRINCE (GROUP LEADER)</a:t>
            </a:r>
            <a:endParaRPr lang="en-US" sz="1200" dirty="0"/>
          </a:p>
        </p:txBody>
      </p:sp>
      <p:sp>
        <p:nvSpPr>
          <p:cNvPr id="3" name="Text 1"/>
          <p:cNvSpPr txBox="1"/>
          <p:nvPr/>
        </p:nvSpPr>
        <p:spPr>
          <a:xfrm>
            <a:off x="594360" y="731520"/>
            <a:ext cx="8229600" cy="594360"/>
          </a:xfrm>
          <a:prstGeom prst="rect">
            <a:avLst/>
          </a:prstGeom>
          <a:noFill/>
        </p:spPr>
        <p:txBody>
          <a:bodyPr wrap="square" lIns="0" tIns="0" rIns="0" bIns="0" rtlCol="0" anchor="ctr"/>
          <a:lstStyle/>
          <a:p>
            <a:pPr marL="0" indent="0">
              <a:buNone/>
            </a:pPr>
            <a:r>
              <a:rPr lang="en-US" sz="3000" b="1" dirty="0">
                <a:solidFill>
                  <a:srgbClr val="16213A"/>
                </a:solidFill>
                <a:latin typeface="Cambria" panose="02040503050406030204" pitchFamily="34" charset="0"/>
                <a:ea typeface="Cambria" panose="02040503050406030204" pitchFamily="34" charset="-122"/>
                <a:cs typeface="Cambria" panose="02040503050406030204" pitchFamily="34" charset="-120"/>
              </a:rPr>
              <a:t>Launch the EC2 Instances</a:t>
            </a:r>
            <a:endParaRPr lang="en-US" sz="3000" dirty="0"/>
          </a:p>
        </p:txBody>
      </p:sp>
      <p:sp>
        <p:nvSpPr>
          <p:cNvPr id="4" name="Shape 2"/>
          <p:cNvSpPr/>
          <p:nvPr/>
        </p:nvSpPr>
        <p:spPr>
          <a:xfrm>
            <a:off x="621792" y="1463040"/>
            <a:ext cx="5120640" cy="2514600"/>
          </a:xfrm>
          <a:prstGeom prst="roundRect">
            <a:avLst>
              <a:gd name="adj" fmla="val 3273"/>
            </a:avLst>
          </a:prstGeom>
          <a:solidFill>
            <a:srgbClr val="FFFFFF"/>
          </a:solidFill>
          <a:ln w="12700">
            <a:solidFill>
              <a:srgbClr val="DCE3F0"/>
            </a:solidFill>
            <a:prstDash val="solid"/>
          </a:ln>
          <a:effectLst>
            <a:outerShdw blurRad="76200" dist="25400" dir="5400000" algn="bl" rotWithShape="0">
              <a:srgbClr val="8CA0BF">
                <a:alpha val="20000"/>
              </a:srgbClr>
            </a:outerShdw>
          </a:effectLst>
        </p:spPr>
      </p:sp>
      <p:sp>
        <p:nvSpPr>
          <p:cNvPr id="5" name="Shape 3"/>
          <p:cNvSpPr/>
          <p:nvPr/>
        </p:nvSpPr>
        <p:spPr>
          <a:xfrm>
            <a:off x="621792" y="1463040"/>
            <a:ext cx="5120640" cy="640080"/>
          </a:xfrm>
          <a:prstGeom prst="roundRect">
            <a:avLst>
              <a:gd name="adj" fmla="val 12857"/>
            </a:avLst>
          </a:prstGeom>
          <a:solidFill>
            <a:srgbClr val="E9F7EE"/>
          </a:solidFill>
        </p:spPr>
      </p:sp>
      <p:sp>
        <p:nvSpPr>
          <p:cNvPr id="6" name="Shape 4"/>
          <p:cNvSpPr/>
          <p:nvPr/>
        </p:nvSpPr>
        <p:spPr>
          <a:xfrm>
            <a:off x="850392" y="1554480"/>
            <a:ext cx="457200" cy="457200"/>
          </a:xfrm>
          <a:prstGeom prst="ellipse">
            <a:avLst/>
          </a:prstGeom>
          <a:solidFill>
            <a:srgbClr val="1B8A5A"/>
          </a:solidFill>
        </p:spPr>
      </p:sp>
      <p:sp>
        <p:nvSpPr>
          <p:cNvPr id="7" name="Text 5"/>
          <p:cNvSpPr txBox="1"/>
          <p:nvPr/>
        </p:nvSpPr>
        <p:spPr>
          <a:xfrm>
            <a:off x="850392" y="15544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300" dirty="0"/>
          </a:p>
        </p:txBody>
      </p:sp>
      <p:sp>
        <p:nvSpPr>
          <p:cNvPr id="8" name="Text 6"/>
          <p:cNvSpPr txBox="1"/>
          <p:nvPr/>
        </p:nvSpPr>
        <p:spPr>
          <a:xfrm>
            <a:off x="1444752" y="1463040"/>
            <a:ext cx="4114800" cy="640080"/>
          </a:xfrm>
          <a:prstGeom prst="rect">
            <a:avLst/>
          </a:prstGeom>
          <a:noFill/>
        </p:spPr>
        <p:txBody>
          <a:bodyPr wrap="square" lIns="0" tIns="0" rIns="0" bIns="0" rtlCol="0" anchor="ctr"/>
          <a:lstStyle/>
          <a:p>
            <a:pPr marL="0" indent="0">
              <a:buNone/>
            </a:pPr>
            <a:r>
              <a:rPr lang="en-US" sz="1550" b="1" dirty="0">
                <a:solidFill>
                  <a:srgbClr val="16213A"/>
                </a:solidFill>
                <a:latin typeface="Cambria" panose="02040503050406030204" pitchFamily="34" charset="0"/>
                <a:ea typeface="Cambria" panose="02040503050406030204" pitchFamily="34" charset="-122"/>
                <a:cs typeface="Cambria" panose="02040503050406030204" pitchFamily="34" charset="-120"/>
              </a:rPr>
              <a:t>Project6-Public-EC2</a:t>
            </a:r>
            <a:endParaRPr lang="en-US" sz="1550" dirty="0"/>
          </a:p>
        </p:txBody>
      </p:sp>
      <p:sp>
        <p:nvSpPr>
          <p:cNvPr id="9" name="Text 7"/>
          <p:cNvSpPr txBox="1"/>
          <p:nvPr/>
        </p:nvSpPr>
        <p:spPr>
          <a:xfrm>
            <a:off x="914400" y="2286000"/>
            <a:ext cx="4572000" cy="1508760"/>
          </a:xfrm>
          <a:prstGeom prst="rect">
            <a:avLst/>
          </a:prstGeom>
          <a:noFill/>
        </p:spPr>
        <p:txBody>
          <a:bodyPr wrap="square" lIns="0" tIns="0" rIns="0" bIns="0" rtlCol="0" anchor="t"/>
          <a:lstStyle/>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AMI: Amazon Linux</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Subnet: Project6-Public-Subnet</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Auto-assign Public IP: Enable</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Security Group: Project6-Public-SG</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Result: Public IPv4 assigned (18.209.36.213)</a:t>
            </a:r>
            <a:endParaRPr lang="en-US" sz="1150" dirty="0"/>
          </a:p>
        </p:txBody>
      </p:sp>
      <p:sp>
        <p:nvSpPr>
          <p:cNvPr id="10" name="Shape 8"/>
          <p:cNvSpPr/>
          <p:nvPr/>
        </p:nvSpPr>
        <p:spPr>
          <a:xfrm>
            <a:off x="6108192" y="1463040"/>
            <a:ext cx="5120640" cy="2514600"/>
          </a:xfrm>
          <a:prstGeom prst="roundRect">
            <a:avLst>
              <a:gd name="adj" fmla="val 3273"/>
            </a:avLst>
          </a:prstGeom>
          <a:solidFill>
            <a:srgbClr val="FFFFFF"/>
          </a:solidFill>
          <a:ln w="12700">
            <a:solidFill>
              <a:srgbClr val="DCE3F0"/>
            </a:solidFill>
            <a:prstDash val="solid"/>
          </a:ln>
          <a:effectLst>
            <a:outerShdw blurRad="76200" dist="25400" dir="5400000" algn="bl" rotWithShape="0">
              <a:srgbClr val="8CA0BF">
                <a:alpha val="20000"/>
              </a:srgbClr>
            </a:outerShdw>
          </a:effectLst>
        </p:spPr>
      </p:sp>
      <p:sp>
        <p:nvSpPr>
          <p:cNvPr id="11" name="Shape 9"/>
          <p:cNvSpPr/>
          <p:nvPr/>
        </p:nvSpPr>
        <p:spPr>
          <a:xfrm>
            <a:off x="6108192" y="1463040"/>
            <a:ext cx="5120640" cy="640080"/>
          </a:xfrm>
          <a:prstGeom prst="roundRect">
            <a:avLst>
              <a:gd name="adj" fmla="val 12857"/>
            </a:avLst>
          </a:prstGeom>
          <a:solidFill>
            <a:srgbClr val="E9F1FB"/>
          </a:solidFill>
        </p:spPr>
      </p:sp>
      <p:sp>
        <p:nvSpPr>
          <p:cNvPr id="12" name="Shape 10"/>
          <p:cNvSpPr/>
          <p:nvPr/>
        </p:nvSpPr>
        <p:spPr>
          <a:xfrm>
            <a:off x="6336792" y="1554480"/>
            <a:ext cx="457200" cy="457200"/>
          </a:xfrm>
          <a:prstGeom prst="ellipse">
            <a:avLst/>
          </a:prstGeom>
          <a:solidFill>
            <a:srgbClr val="1C5FA8"/>
          </a:solidFill>
        </p:spPr>
      </p:sp>
      <p:sp>
        <p:nvSpPr>
          <p:cNvPr id="13" name="Text 11"/>
          <p:cNvSpPr txBox="1"/>
          <p:nvPr/>
        </p:nvSpPr>
        <p:spPr>
          <a:xfrm>
            <a:off x="6336792" y="15544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300" dirty="0"/>
          </a:p>
        </p:txBody>
      </p:sp>
      <p:sp>
        <p:nvSpPr>
          <p:cNvPr id="14" name="Text 12"/>
          <p:cNvSpPr txBox="1"/>
          <p:nvPr/>
        </p:nvSpPr>
        <p:spPr>
          <a:xfrm>
            <a:off x="6931152" y="1463040"/>
            <a:ext cx="4114800" cy="640080"/>
          </a:xfrm>
          <a:prstGeom prst="rect">
            <a:avLst/>
          </a:prstGeom>
          <a:noFill/>
        </p:spPr>
        <p:txBody>
          <a:bodyPr wrap="square" lIns="0" tIns="0" rIns="0" bIns="0" rtlCol="0" anchor="ctr"/>
          <a:lstStyle/>
          <a:p>
            <a:pPr marL="0" indent="0">
              <a:buNone/>
            </a:pPr>
            <a:r>
              <a:rPr lang="en-US" sz="1550" b="1" dirty="0">
                <a:solidFill>
                  <a:srgbClr val="16213A"/>
                </a:solidFill>
                <a:latin typeface="Cambria" panose="02040503050406030204" pitchFamily="34" charset="0"/>
                <a:ea typeface="Cambria" panose="02040503050406030204" pitchFamily="34" charset="-122"/>
                <a:cs typeface="Cambria" panose="02040503050406030204" pitchFamily="34" charset="-120"/>
              </a:rPr>
              <a:t>Project6-Private-EC2</a:t>
            </a:r>
            <a:endParaRPr lang="en-US" sz="1550" dirty="0"/>
          </a:p>
        </p:txBody>
      </p:sp>
      <p:sp>
        <p:nvSpPr>
          <p:cNvPr id="15" name="Text 13"/>
          <p:cNvSpPr txBox="1"/>
          <p:nvPr/>
        </p:nvSpPr>
        <p:spPr>
          <a:xfrm>
            <a:off x="6400800" y="2286000"/>
            <a:ext cx="4572000" cy="1508760"/>
          </a:xfrm>
          <a:prstGeom prst="rect">
            <a:avLst/>
          </a:prstGeom>
          <a:noFill/>
        </p:spPr>
        <p:txBody>
          <a:bodyPr wrap="square" lIns="0" tIns="0" rIns="0" bIns="0" rtlCol="0" anchor="t"/>
          <a:lstStyle/>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AMI: Amazon Linux</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Subnet: Project6-Private-Subnet</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Auto-assign Public IP: Disable</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Security Group: Project6-Private-SG</a:t>
            </a:r>
            <a:endParaRPr lang="en-US" sz="1150" dirty="0"/>
          </a:p>
          <a:p>
            <a:pPr marL="342900" indent="-342900">
              <a:lnSpc>
                <a:spcPct val="120000"/>
              </a:lnSpc>
              <a:spcAft>
                <a:spcPts val="1100"/>
              </a:spcAft>
              <a:buSzPct val="100000"/>
              <a:buChar char="•"/>
            </a:pPr>
            <a:r>
              <a:rPr lang="en-US" sz="1150" dirty="0">
                <a:solidFill>
                  <a:srgbClr val="5A6B87"/>
                </a:solidFill>
                <a:latin typeface="Calibri" panose="020F0502020204030204" pitchFamily="34" charset="0"/>
                <a:ea typeface="Calibri" panose="020F0502020204030204" pitchFamily="34" charset="-122"/>
                <a:cs typeface="Calibri" panose="020F0502020204030204" pitchFamily="34" charset="-120"/>
              </a:rPr>
              <a:t>Result: No public IPv4 — private IP 10.0.2.62</a:t>
            </a:r>
            <a:endParaRPr lang="en-US" sz="1150" dirty="0"/>
          </a:p>
        </p:txBody>
      </p:sp>
      <p:sp>
        <p:nvSpPr>
          <p:cNvPr id="16" name="Shape 14"/>
          <p:cNvSpPr/>
          <p:nvPr/>
        </p:nvSpPr>
        <p:spPr>
          <a:xfrm>
            <a:off x="4075024" y="4105656"/>
            <a:ext cx="4041648" cy="2242517"/>
          </a:xfrm>
          <a:prstGeom prst="roundRect">
            <a:avLst>
              <a:gd name="adj" fmla="val 2039"/>
            </a:avLst>
          </a:prstGeom>
          <a:solidFill>
            <a:srgbClr val="FFFFFF"/>
          </a:solidFill>
          <a:ln w="12700">
            <a:solidFill>
              <a:srgbClr val="D5DEEC"/>
            </a:solidFill>
            <a:prstDash val="solid"/>
          </a:ln>
          <a:effectLst>
            <a:outerShdw blurRad="88900" dist="25400" dir="5400000" algn="bl" rotWithShape="0">
              <a:srgbClr val="8CA0BF">
                <a:alpha val="25000"/>
              </a:srgbClr>
            </a:outerShdw>
          </a:effectLst>
        </p:spPr>
      </p:sp>
      <p:pic>
        <p:nvPicPr>
          <p:cNvPr id="17" name="Image 0" descr="/home/claude/ec2ppt/pdfimg/img-011.png"/>
          <p:cNvPicPr>
            <a:picLocks noChangeAspect="1"/>
          </p:cNvPicPr>
          <p:nvPr/>
        </p:nvPicPr>
        <p:blipFill>
          <a:blip r:embed="rId1"/>
          <a:stretch>
            <a:fillRect/>
          </a:stretch>
        </p:blipFill>
        <p:spPr>
          <a:xfrm>
            <a:off x="4129888" y="4160520"/>
            <a:ext cx="3931920" cy="2132789"/>
          </a:xfrm>
          <a:prstGeom prst="rect">
            <a:avLst/>
          </a:prstGeom>
        </p:spPr>
      </p:pic>
      <p:sp>
        <p:nvSpPr>
          <p:cNvPr id="18" name="Text 15"/>
          <p:cNvSpPr txBox="1"/>
          <p:nvPr/>
        </p:nvSpPr>
        <p:spPr>
          <a:xfrm>
            <a:off x="3215488" y="6421325"/>
            <a:ext cx="5760720" cy="274320"/>
          </a:xfrm>
          <a:prstGeom prst="rect">
            <a:avLst/>
          </a:prstGeom>
          <a:noFill/>
        </p:spPr>
        <p:txBody>
          <a:bodyPr wrap="square" lIns="0" tIns="0" rIns="0" bIns="0" rtlCol="0" anchor="ctr"/>
          <a:lstStyle/>
          <a:p>
            <a:pPr marL="0" indent="0" algn="ctr">
              <a:buNone/>
            </a:pPr>
            <a:r>
              <a:rPr lang="en-US" sz="1000" i="1" dirty="0">
                <a:solidFill>
                  <a:srgbClr val="5A6B87"/>
                </a:solidFill>
                <a:latin typeface="Calibri" panose="020F0502020204030204" pitchFamily="34" charset="0"/>
                <a:ea typeface="Calibri" panose="020F0502020204030204" pitchFamily="34" charset="-122"/>
                <a:cs typeface="Calibri" panose="020F0502020204030204" pitchFamily="34" charset="-120"/>
              </a:rPr>
              <a:t>Both instances Running — same VPC, 2/2 status checks passed</a:t>
            </a:r>
            <a:endParaRPr lang="en-US" sz="1000" dirty="0"/>
          </a:p>
        </p:txBody>
      </p:sp>
      <p:sp>
        <p:nvSpPr>
          <p:cNvPr id="19" name="Text 16"/>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20" name="Text 17"/>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PHASE 4 — ANSHIKA RAI</a:t>
            </a:r>
            <a:endParaRPr lang="en-US" sz="1200" dirty="0"/>
          </a:p>
        </p:txBody>
      </p:sp>
      <p:sp>
        <p:nvSpPr>
          <p:cNvPr id="3" name="Text 1"/>
          <p:cNvSpPr txBox="1"/>
          <p:nvPr/>
        </p:nvSpPr>
        <p:spPr>
          <a:xfrm>
            <a:off x="594360" y="731520"/>
            <a:ext cx="8229600" cy="594360"/>
          </a:xfrm>
          <a:prstGeom prst="rect">
            <a:avLst/>
          </a:prstGeom>
          <a:noFill/>
        </p:spPr>
        <p:txBody>
          <a:bodyPr wrap="square" lIns="0" tIns="0" rIns="0" bIns="0" rtlCol="0" anchor="ctr"/>
          <a:lstStyle/>
          <a:p>
            <a:pPr marL="0" indent="0">
              <a:buNone/>
            </a:pPr>
            <a:r>
              <a:rPr lang="en-US" sz="3000" b="1" dirty="0">
                <a:solidFill>
                  <a:srgbClr val="16213A"/>
                </a:solidFill>
                <a:latin typeface="Cambria" panose="02040503050406030204" pitchFamily="34" charset="0"/>
                <a:ea typeface="Cambria" panose="02040503050406030204" pitchFamily="34" charset="-122"/>
                <a:cs typeface="Cambria" panose="02040503050406030204" pitchFamily="34" charset="-120"/>
              </a:rPr>
              <a:t>Connect &amp; Test Connectivity</a:t>
            </a:r>
            <a:endParaRPr lang="en-US" sz="3000" dirty="0"/>
          </a:p>
        </p:txBody>
      </p:sp>
      <p:sp>
        <p:nvSpPr>
          <p:cNvPr id="4" name="Shape 2"/>
          <p:cNvSpPr/>
          <p:nvPr/>
        </p:nvSpPr>
        <p:spPr>
          <a:xfrm>
            <a:off x="621792" y="1554480"/>
            <a:ext cx="5349240" cy="2286000"/>
          </a:xfrm>
          <a:prstGeom prst="roundRect">
            <a:avLst>
              <a:gd name="adj" fmla="val 3200"/>
            </a:avLst>
          </a:prstGeom>
          <a:solidFill>
            <a:srgbClr val="FFFFFF"/>
          </a:solidFill>
          <a:ln w="15875">
            <a:solidFill>
              <a:srgbClr val="1B8A5A"/>
            </a:solidFill>
            <a:prstDash val="solid"/>
          </a:ln>
          <a:effectLst>
            <a:outerShdw blurRad="76200" dist="25400" dir="5400000" algn="bl" rotWithShape="0">
              <a:srgbClr val="8CA0BF">
                <a:alpha val="18000"/>
              </a:srgbClr>
            </a:outerShdw>
          </a:effectLst>
        </p:spPr>
      </p:sp>
      <p:sp>
        <p:nvSpPr>
          <p:cNvPr id="5" name="Shape 3"/>
          <p:cNvSpPr/>
          <p:nvPr/>
        </p:nvSpPr>
        <p:spPr>
          <a:xfrm>
            <a:off x="850392" y="1755648"/>
            <a:ext cx="420624" cy="420624"/>
          </a:xfrm>
          <a:prstGeom prst="ellipse">
            <a:avLst/>
          </a:prstGeom>
          <a:solidFill>
            <a:srgbClr val="1B8A5A"/>
          </a:solidFill>
        </p:spPr>
      </p:sp>
      <p:sp>
        <p:nvSpPr>
          <p:cNvPr id="6" name="Text 4"/>
          <p:cNvSpPr txBox="1"/>
          <p:nvPr/>
        </p:nvSpPr>
        <p:spPr>
          <a:xfrm>
            <a:off x="850392" y="1755648"/>
            <a:ext cx="420624" cy="420624"/>
          </a:xfrm>
          <a:prstGeom prst="rect">
            <a:avLst/>
          </a:prstGeom>
          <a:noFill/>
        </p:spPr>
        <p:txBody>
          <a:bodyPr wrap="square" lIns="0" tIns="0" rIns="0" bIns="0" rtlCol="0" anchor="ctr"/>
          <a:lstStyle/>
          <a:p>
            <a:pPr marL="0" indent="0" algn="ctr">
              <a:buNone/>
            </a:pPr>
            <a:r>
              <a:rPr lang="en-US" sz="1195"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1195" dirty="0"/>
          </a:p>
        </p:txBody>
      </p:sp>
      <p:sp>
        <p:nvSpPr>
          <p:cNvPr id="7" name="Text 5"/>
          <p:cNvSpPr txBox="1"/>
          <p:nvPr/>
        </p:nvSpPr>
        <p:spPr>
          <a:xfrm>
            <a:off x="1399032" y="1737360"/>
            <a:ext cx="4389120" cy="457200"/>
          </a:xfrm>
          <a:prstGeom prst="rect">
            <a:avLst/>
          </a:prstGeom>
          <a:noFill/>
        </p:spPr>
        <p:txBody>
          <a:bodyPr wrap="square" lIns="0" tIns="0" rIns="0" bIns="0" rtlCol="0" anchor="ctr"/>
          <a:lstStyle/>
          <a:p>
            <a:pPr marL="0" indent="0">
              <a:buNone/>
            </a:pPr>
            <a:r>
              <a:rPr lang="en-US" sz="1500" b="1" dirty="0">
                <a:solidFill>
                  <a:srgbClr val="16213A"/>
                </a:solidFill>
                <a:latin typeface="Cambria" panose="02040503050406030204" pitchFamily="34" charset="0"/>
                <a:ea typeface="Cambria" panose="02040503050406030204" pitchFamily="34" charset="-122"/>
                <a:cs typeface="Cambria" panose="02040503050406030204" pitchFamily="34" charset="-120"/>
              </a:rPr>
              <a:t>Connect to the Public EC2</a:t>
            </a:r>
            <a:endParaRPr lang="en-US" sz="1500" dirty="0"/>
          </a:p>
        </p:txBody>
      </p:sp>
      <p:sp>
        <p:nvSpPr>
          <p:cNvPr id="8" name="Text 6"/>
          <p:cNvSpPr txBox="1"/>
          <p:nvPr/>
        </p:nvSpPr>
        <p:spPr>
          <a:xfrm>
            <a:off x="896112" y="2267712"/>
            <a:ext cx="4800600" cy="685800"/>
          </a:xfrm>
          <a:prstGeom prst="rect">
            <a:avLst/>
          </a:prstGeom>
          <a:noFill/>
        </p:spPr>
        <p:txBody>
          <a:bodyPr wrap="square" lIns="0" tIns="0" rIns="0" bIns="0" rtlCol="0" anchor="ctr"/>
          <a:lstStyle/>
          <a:p>
            <a:pPr marL="0" indent="0">
              <a:lnSpc>
                <a:spcPct val="120000"/>
              </a:lnSpc>
              <a:buNone/>
            </a:pPr>
            <a:r>
              <a:rPr lang="en-US" sz="1100" dirty="0">
                <a:solidFill>
                  <a:srgbClr val="5A6B87"/>
                </a:solidFill>
                <a:latin typeface="Calibri" panose="020F0502020204030204" pitchFamily="34" charset="0"/>
                <a:ea typeface="Calibri" panose="020F0502020204030204" pitchFamily="34" charset="-122"/>
                <a:cs typeface="Calibri" panose="020F0502020204030204" pitchFamily="34" charset="-120"/>
              </a:rPr>
              <a:t>Logged into Project6-Public-EC2 via SSH using the EC2 key pair. A successful login returns the Amazon Linux shell prompt — confirming the public instance is reachable.</a:t>
            </a:r>
            <a:endParaRPr lang="en-US" sz="1100" dirty="0"/>
          </a:p>
        </p:txBody>
      </p:sp>
      <p:sp>
        <p:nvSpPr>
          <p:cNvPr id="9" name="Shape 7"/>
          <p:cNvSpPr/>
          <p:nvPr/>
        </p:nvSpPr>
        <p:spPr>
          <a:xfrm>
            <a:off x="841248" y="2916936"/>
            <a:ext cx="4892040" cy="859536"/>
          </a:xfrm>
          <a:prstGeom prst="roundRect">
            <a:avLst>
              <a:gd name="adj" fmla="val 5319"/>
            </a:avLst>
          </a:prstGeom>
          <a:solidFill>
            <a:srgbClr val="FFFFFF"/>
          </a:solidFill>
          <a:ln w="12700">
            <a:solidFill>
              <a:srgbClr val="D5DEEC"/>
            </a:solidFill>
            <a:prstDash val="solid"/>
          </a:ln>
          <a:effectLst>
            <a:outerShdw blurRad="88900" dist="25400" dir="5400000" algn="bl" rotWithShape="0">
              <a:srgbClr val="8CA0BF">
                <a:alpha val="25000"/>
              </a:srgbClr>
            </a:outerShdw>
          </a:effectLst>
        </p:spPr>
      </p:sp>
      <p:pic>
        <p:nvPicPr>
          <p:cNvPr id="10" name="Image 0" descr="/home/claude/ec2ppt/pdfimg/img-013.png"/>
          <p:cNvPicPr>
            <a:picLocks noChangeAspect="1"/>
          </p:cNvPicPr>
          <p:nvPr/>
        </p:nvPicPr>
        <p:blipFill>
          <a:blip r:embed="rId1"/>
          <a:stretch>
            <a:fillRect/>
          </a:stretch>
        </p:blipFill>
        <p:spPr>
          <a:xfrm>
            <a:off x="896112" y="2971800"/>
            <a:ext cx="4782312" cy="749808"/>
          </a:xfrm>
          <a:prstGeom prst="rect">
            <a:avLst/>
          </a:prstGeom>
        </p:spPr>
      </p:pic>
      <p:sp>
        <p:nvSpPr>
          <p:cNvPr id="11" name="Shape 8"/>
          <p:cNvSpPr/>
          <p:nvPr/>
        </p:nvSpPr>
        <p:spPr>
          <a:xfrm>
            <a:off x="6291072" y="1554480"/>
            <a:ext cx="5349240" cy="2286000"/>
          </a:xfrm>
          <a:prstGeom prst="roundRect">
            <a:avLst>
              <a:gd name="adj" fmla="val 3200"/>
            </a:avLst>
          </a:prstGeom>
          <a:solidFill>
            <a:srgbClr val="FFFFFF"/>
          </a:solidFill>
          <a:ln w="15875">
            <a:solidFill>
              <a:srgbClr val="1C5FA8"/>
            </a:solidFill>
            <a:prstDash val="solid"/>
          </a:ln>
          <a:effectLst>
            <a:outerShdw blurRad="76200" dist="25400" dir="5400000" algn="bl" rotWithShape="0">
              <a:srgbClr val="8CA0BF">
                <a:alpha val="18000"/>
              </a:srgbClr>
            </a:outerShdw>
          </a:effectLst>
        </p:spPr>
      </p:sp>
      <p:sp>
        <p:nvSpPr>
          <p:cNvPr id="12" name="Shape 9"/>
          <p:cNvSpPr/>
          <p:nvPr/>
        </p:nvSpPr>
        <p:spPr>
          <a:xfrm>
            <a:off x="6519672" y="1755648"/>
            <a:ext cx="420624" cy="420624"/>
          </a:xfrm>
          <a:prstGeom prst="ellipse">
            <a:avLst/>
          </a:prstGeom>
          <a:solidFill>
            <a:srgbClr val="1C5FA8"/>
          </a:solidFill>
        </p:spPr>
      </p:sp>
      <p:sp>
        <p:nvSpPr>
          <p:cNvPr id="13" name="Text 10"/>
          <p:cNvSpPr txBox="1"/>
          <p:nvPr/>
        </p:nvSpPr>
        <p:spPr>
          <a:xfrm>
            <a:off x="6519672" y="1755648"/>
            <a:ext cx="420624" cy="420624"/>
          </a:xfrm>
          <a:prstGeom prst="rect">
            <a:avLst/>
          </a:prstGeom>
          <a:noFill/>
        </p:spPr>
        <p:txBody>
          <a:bodyPr wrap="square" lIns="0" tIns="0" rIns="0" bIns="0" rtlCol="0" anchor="ctr"/>
          <a:lstStyle/>
          <a:p>
            <a:pPr marL="0" indent="0" algn="ctr">
              <a:buNone/>
            </a:pPr>
            <a:r>
              <a:rPr lang="en-US" sz="1195"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1195" dirty="0"/>
          </a:p>
        </p:txBody>
      </p:sp>
      <p:sp>
        <p:nvSpPr>
          <p:cNvPr id="14" name="Text 11"/>
          <p:cNvSpPr txBox="1"/>
          <p:nvPr/>
        </p:nvSpPr>
        <p:spPr>
          <a:xfrm>
            <a:off x="7068312" y="1737360"/>
            <a:ext cx="4389120" cy="457200"/>
          </a:xfrm>
          <a:prstGeom prst="rect">
            <a:avLst/>
          </a:prstGeom>
          <a:noFill/>
        </p:spPr>
        <p:txBody>
          <a:bodyPr wrap="square" lIns="0" tIns="0" rIns="0" bIns="0" rtlCol="0" anchor="ctr"/>
          <a:lstStyle/>
          <a:p>
            <a:pPr marL="0" indent="0">
              <a:buNone/>
            </a:pPr>
            <a:r>
              <a:rPr lang="en-US" sz="1500" b="1" dirty="0">
                <a:solidFill>
                  <a:srgbClr val="16213A"/>
                </a:solidFill>
                <a:latin typeface="Cambria" panose="02040503050406030204" pitchFamily="34" charset="0"/>
                <a:ea typeface="Cambria" panose="02040503050406030204" pitchFamily="34" charset="-122"/>
                <a:cs typeface="Cambria" panose="02040503050406030204" pitchFamily="34" charset="-120"/>
              </a:rPr>
              <a:t>Ping the Private EC2</a:t>
            </a:r>
            <a:endParaRPr lang="en-US" sz="1500" dirty="0"/>
          </a:p>
        </p:txBody>
      </p:sp>
      <p:sp>
        <p:nvSpPr>
          <p:cNvPr id="15" name="Text 12"/>
          <p:cNvSpPr txBox="1"/>
          <p:nvPr/>
        </p:nvSpPr>
        <p:spPr>
          <a:xfrm>
            <a:off x="6565392" y="2267712"/>
            <a:ext cx="4800600" cy="685800"/>
          </a:xfrm>
          <a:prstGeom prst="rect">
            <a:avLst/>
          </a:prstGeom>
          <a:noFill/>
        </p:spPr>
        <p:txBody>
          <a:bodyPr wrap="square" lIns="0" tIns="0" rIns="0" bIns="0" rtlCol="0" anchor="ctr"/>
          <a:lstStyle/>
          <a:p>
            <a:pPr marL="0" indent="0">
              <a:lnSpc>
                <a:spcPct val="120000"/>
              </a:lnSpc>
              <a:buNone/>
            </a:pPr>
            <a:r>
              <a:rPr lang="en-US" sz="1100" dirty="0">
                <a:solidFill>
                  <a:srgbClr val="5A6B87"/>
                </a:solidFill>
                <a:latin typeface="Calibri" panose="020F0502020204030204" pitchFamily="34" charset="0"/>
                <a:ea typeface="Calibri" panose="020F0502020204030204" pitchFamily="34" charset="-122"/>
                <a:cs typeface="Calibri" panose="020F0502020204030204" pitchFamily="34" charset="-120"/>
              </a:rPr>
              <a:t>From the Public EC2 terminal: ping 10.0.2.62 — the private instance replied with repeated "64 bytes from 10.0.2.62" messages, confirming connectivity over the private IP.</a:t>
            </a:r>
            <a:endParaRPr lang="en-US" sz="1100" dirty="0"/>
          </a:p>
        </p:txBody>
      </p:sp>
      <p:sp>
        <p:nvSpPr>
          <p:cNvPr id="16" name="Shape 13"/>
          <p:cNvSpPr/>
          <p:nvPr/>
        </p:nvSpPr>
        <p:spPr>
          <a:xfrm>
            <a:off x="6510528" y="2916936"/>
            <a:ext cx="4892040" cy="749808"/>
          </a:xfrm>
          <a:prstGeom prst="roundRect">
            <a:avLst>
              <a:gd name="adj" fmla="val 6098"/>
            </a:avLst>
          </a:prstGeom>
          <a:solidFill>
            <a:srgbClr val="FFFFFF"/>
          </a:solidFill>
          <a:ln w="12700">
            <a:solidFill>
              <a:srgbClr val="D5DEEC"/>
            </a:solidFill>
            <a:prstDash val="solid"/>
          </a:ln>
          <a:effectLst>
            <a:outerShdw blurRad="88900" dist="25400" dir="5400000" algn="bl" rotWithShape="0">
              <a:srgbClr val="8CA0BF">
                <a:alpha val="25000"/>
              </a:srgbClr>
            </a:outerShdw>
          </a:effectLst>
        </p:spPr>
      </p:sp>
      <p:pic>
        <p:nvPicPr>
          <p:cNvPr id="17" name="Image 1" descr="/home/claude/ec2ppt/pdfimg/img-014.png"/>
          <p:cNvPicPr>
            <a:picLocks noChangeAspect="1"/>
          </p:cNvPicPr>
          <p:nvPr/>
        </p:nvPicPr>
        <p:blipFill>
          <a:blip r:embed="rId2"/>
          <a:stretch>
            <a:fillRect/>
          </a:stretch>
        </p:blipFill>
        <p:spPr>
          <a:xfrm>
            <a:off x="6565392" y="2971800"/>
            <a:ext cx="4782312" cy="640080"/>
          </a:xfrm>
          <a:prstGeom prst="rect">
            <a:avLst/>
          </a:prstGeom>
        </p:spPr>
      </p:pic>
      <p:sp>
        <p:nvSpPr>
          <p:cNvPr id="18" name="Shape 14"/>
          <p:cNvSpPr/>
          <p:nvPr/>
        </p:nvSpPr>
        <p:spPr>
          <a:xfrm>
            <a:off x="621792" y="4069080"/>
            <a:ext cx="10954512" cy="868680"/>
          </a:xfrm>
          <a:prstGeom prst="roundRect">
            <a:avLst>
              <a:gd name="adj" fmla="val 8421"/>
            </a:avLst>
          </a:prstGeom>
          <a:solidFill>
            <a:srgbClr val="152238"/>
          </a:solidFill>
        </p:spPr>
      </p:sp>
      <p:sp>
        <p:nvSpPr>
          <p:cNvPr id="19" name="Shape 15"/>
          <p:cNvSpPr/>
          <p:nvPr/>
        </p:nvSpPr>
        <p:spPr>
          <a:xfrm>
            <a:off x="868680" y="4224528"/>
            <a:ext cx="502920" cy="502920"/>
          </a:xfrm>
          <a:prstGeom prst="ellipse">
            <a:avLst/>
          </a:prstGeom>
          <a:solidFill>
            <a:srgbClr val="FF9900"/>
          </a:solidFill>
        </p:spPr>
      </p:sp>
      <p:sp>
        <p:nvSpPr>
          <p:cNvPr id="20" name="Text 16"/>
          <p:cNvSpPr txBox="1"/>
          <p:nvPr/>
        </p:nvSpPr>
        <p:spPr>
          <a:xfrm>
            <a:off x="868680" y="4224528"/>
            <a:ext cx="502920" cy="502920"/>
          </a:xfrm>
          <a:prstGeom prst="rect">
            <a:avLst/>
          </a:prstGeom>
          <a:noFill/>
        </p:spPr>
        <p:txBody>
          <a:bodyPr wrap="square" lIns="0" tIns="0" rIns="0" bIns="0" rtlCol="0" anchor="ctr"/>
          <a:lstStyle/>
          <a:p>
            <a:pPr marL="0" indent="0" algn="ctr">
              <a:buNone/>
            </a:pPr>
            <a:r>
              <a:rPr lang="en-US" sz="1430" b="1" dirty="0">
                <a:solidFill>
                  <a:srgbClr val="152238"/>
                </a:solidFill>
                <a:latin typeface="Cambria" panose="02040503050406030204" pitchFamily="34" charset="0"/>
                <a:ea typeface="Cambria" panose="02040503050406030204" pitchFamily="34" charset="-122"/>
                <a:cs typeface="Cambria" panose="02040503050406030204" pitchFamily="34" charset="-120"/>
              </a:rPr>
              <a:t>✓</a:t>
            </a:r>
            <a:endParaRPr lang="en-US" sz="1430" dirty="0"/>
          </a:p>
        </p:txBody>
      </p:sp>
      <p:sp>
        <p:nvSpPr>
          <p:cNvPr id="21" name="Text 17"/>
          <p:cNvSpPr txBox="1"/>
          <p:nvPr/>
        </p:nvSpPr>
        <p:spPr>
          <a:xfrm>
            <a:off x="1554480" y="4114800"/>
            <a:ext cx="9784080" cy="594360"/>
          </a:xfrm>
          <a:prstGeom prst="rect">
            <a:avLst/>
          </a:prstGeom>
          <a:noFill/>
        </p:spPr>
        <p:txBody>
          <a:bodyPr wrap="square" lIns="0" tIns="0" rIns="0" bIns="0" rtlCol="0" anchor="ctr"/>
          <a:lstStyle/>
          <a:p>
            <a:pPr marL="0" indent="0">
              <a:lnSpc>
                <a:spcPct val="120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Result: the Public EC2 successfully reached the Private EC2 (10.0.2.62) using its private IP address — while the private instance itself remains unreachable directly from the internet.</a:t>
            </a:r>
            <a:endParaRPr lang="en-US" sz="1250" dirty="0"/>
          </a:p>
        </p:txBody>
      </p:sp>
      <p:sp>
        <p:nvSpPr>
          <p:cNvPr id="22" name="Text 18"/>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23" name="Text 19"/>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6400800" cy="292608"/>
          </a:xfrm>
          <a:prstGeom prst="rect">
            <a:avLst/>
          </a:prstGeom>
          <a:noFill/>
        </p:spPr>
        <p:txBody>
          <a:bodyPr wrap="square" lIns="0" tIns="0" rIns="0" bIns="0" rtlCol="0" anchor="ctr"/>
          <a:lstStyle/>
          <a:p>
            <a:pPr marL="0" indent="0">
              <a:buNone/>
            </a:pPr>
            <a:r>
              <a:rPr lang="en-US" sz="12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FINAL CHECK</a:t>
            </a:r>
            <a:endParaRPr lang="en-US" sz="1200" dirty="0"/>
          </a:p>
        </p:txBody>
      </p:sp>
      <p:sp>
        <p:nvSpPr>
          <p:cNvPr id="3" name="Text 1"/>
          <p:cNvSpPr txBox="1"/>
          <p:nvPr/>
        </p:nvSpPr>
        <p:spPr>
          <a:xfrm>
            <a:off x="594360" y="777240"/>
            <a:ext cx="9144000" cy="640080"/>
          </a:xfrm>
          <a:prstGeom prst="rect">
            <a:avLst/>
          </a:prstGeom>
          <a:noFill/>
        </p:spPr>
        <p:txBody>
          <a:bodyPr wrap="square" lIns="0" tIns="0" rIns="0" bIns="0" rtlCol="0" anchor="ctr"/>
          <a:lstStyle/>
          <a:p>
            <a:pPr marL="0" indent="0">
              <a:buNone/>
            </a:pPr>
            <a:r>
              <a:rPr lang="en-US" sz="3000" b="1" dirty="0">
                <a:solidFill>
                  <a:srgbClr val="16213A"/>
                </a:solidFill>
                <a:latin typeface="Cambria" panose="02040503050406030204" pitchFamily="34" charset="0"/>
                <a:ea typeface="Cambria" panose="02040503050406030204" pitchFamily="34" charset="-122"/>
                <a:cs typeface="Cambria" panose="02040503050406030204" pitchFamily="34" charset="-120"/>
              </a:rPr>
              <a:t>Network Configuration Checklist</a:t>
            </a:r>
            <a:endParaRPr lang="en-US" sz="3000" dirty="0"/>
          </a:p>
        </p:txBody>
      </p:sp>
      <p:sp>
        <p:nvSpPr>
          <p:cNvPr id="4" name="Shape 2"/>
          <p:cNvSpPr/>
          <p:nvPr/>
        </p:nvSpPr>
        <p:spPr>
          <a:xfrm>
            <a:off x="621792" y="1920240"/>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5" name="Shape 3"/>
          <p:cNvSpPr/>
          <p:nvPr/>
        </p:nvSpPr>
        <p:spPr>
          <a:xfrm>
            <a:off x="804672" y="2084832"/>
            <a:ext cx="402336" cy="402336"/>
          </a:xfrm>
          <a:prstGeom prst="ellipse">
            <a:avLst/>
          </a:prstGeom>
          <a:solidFill>
            <a:srgbClr val="1B8A5A"/>
          </a:solidFill>
        </p:spPr>
      </p:sp>
      <p:sp>
        <p:nvSpPr>
          <p:cNvPr id="6" name="Text 4"/>
          <p:cNvSpPr txBox="1"/>
          <p:nvPr/>
        </p:nvSpPr>
        <p:spPr>
          <a:xfrm>
            <a:off x="804672" y="2084832"/>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7" name="Text 5"/>
          <p:cNvSpPr txBox="1"/>
          <p:nvPr/>
        </p:nvSpPr>
        <p:spPr>
          <a:xfrm>
            <a:off x="1399032" y="1920240"/>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Both EC2 instances are in the same VPC</a:t>
            </a:r>
            <a:endParaRPr lang="en-US" sz="1180" dirty="0"/>
          </a:p>
        </p:txBody>
      </p:sp>
      <p:sp>
        <p:nvSpPr>
          <p:cNvPr id="8" name="Shape 6"/>
          <p:cNvSpPr/>
          <p:nvPr/>
        </p:nvSpPr>
        <p:spPr>
          <a:xfrm>
            <a:off x="6291072" y="1920240"/>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9" name="Shape 7"/>
          <p:cNvSpPr/>
          <p:nvPr/>
        </p:nvSpPr>
        <p:spPr>
          <a:xfrm>
            <a:off x="6473952" y="2084832"/>
            <a:ext cx="402336" cy="402336"/>
          </a:xfrm>
          <a:prstGeom prst="ellipse">
            <a:avLst/>
          </a:prstGeom>
          <a:solidFill>
            <a:srgbClr val="1B8A5A"/>
          </a:solidFill>
        </p:spPr>
      </p:sp>
      <p:sp>
        <p:nvSpPr>
          <p:cNvPr id="10" name="Text 8"/>
          <p:cNvSpPr txBox="1"/>
          <p:nvPr/>
        </p:nvSpPr>
        <p:spPr>
          <a:xfrm>
            <a:off x="6473952" y="2084832"/>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11" name="Text 9"/>
          <p:cNvSpPr txBox="1"/>
          <p:nvPr/>
        </p:nvSpPr>
        <p:spPr>
          <a:xfrm>
            <a:off x="7068312" y="1920240"/>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Public EC2 is in the Public Subnet</a:t>
            </a:r>
            <a:endParaRPr lang="en-US" sz="1180" dirty="0"/>
          </a:p>
        </p:txBody>
      </p:sp>
      <p:sp>
        <p:nvSpPr>
          <p:cNvPr id="12" name="Shape 10"/>
          <p:cNvSpPr/>
          <p:nvPr/>
        </p:nvSpPr>
        <p:spPr>
          <a:xfrm>
            <a:off x="621792" y="2816352"/>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13" name="Shape 11"/>
          <p:cNvSpPr/>
          <p:nvPr/>
        </p:nvSpPr>
        <p:spPr>
          <a:xfrm>
            <a:off x="804672" y="2980944"/>
            <a:ext cx="402336" cy="402336"/>
          </a:xfrm>
          <a:prstGeom prst="ellipse">
            <a:avLst/>
          </a:prstGeom>
          <a:solidFill>
            <a:srgbClr val="1B8A5A"/>
          </a:solidFill>
        </p:spPr>
      </p:sp>
      <p:sp>
        <p:nvSpPr>
          <p:cNvPr id="14" name="Text 12"/>
          <p:cNvSpPr txBox="1"/>
          <p:nvPr/>
        </p:nvSpPr>
        <p:spPr>
          <a:xfrm>
            <a:off x="804672" y="2980944"/>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15" name="Text 13"/>
          <p:cNvSpPr txBox="1"/>
          <p:nvPr/>
        </p:nvSpPr>
        <p:spPr>
          <a:xfrm>
            <a:off x="1399032" y="2816352"/>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Private EC2 is in the Private Subnet</a:t>
            </a:r>
            <a:endParaRPr lang="en-US" sz="1180" dirty="0"/>
          </a:p>
        </p:txBody>
      </p:sp>
      <p:sp>
        <p:nvSpPr>
          <p:cNvPr id="16" name="Shape 14"/>
          <p:cNvSpPr/>
          <p:nvPr/>
        </p:nvSpPr>
        <p:spPr>
          <a:xfrm>
            <a:off x="6291072" y="2816352"/>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17" name="Shape 15"/>
          <p:cNvSpPr/>
          <p:nvPr/>
        </p:nvSpPr>
        <p:spPr>
          <a:xfrm>
            <a:off x="6473952" y="2980944"/>
            <a:ext cx="402336" cy="402336"/>
          </a:xfrm>
          <a:prstGeom prst="ellipse">
            <a:avLst/>
          </a:prstGeom>
          <a:solidFill>
            <a:srgbClr val="1B8A5A"/>
          </a:solidFill>
        </p:spPr>
      </p:sp>
      <p:sp>
        <p:nvSpPr>
          <p:cNvPr id="18" name="Text 16"/>
          <p:cNvSpPr txBox="1"/>
          <p:nvPr/>
        </p:nvSpPr>
        <p:spPr>
          <a:xfrm>
            <a:off x="6473952" y="2980944"/>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19" name="Text 17"/>
          <p:cNvSpPr txBox="1"/>
          <p:nvPr/>
        </p:nvSpPr>
        <p:spPr>
          <a:xfrm>
            <a:off x="7068312" y="2816352"/>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Public EC2 has a Public IPv4 address</a:t>
            </a:r>
            <a:endParaRPr lang="en-US" sz="1180" dirty="0"/>
          </a:p>
        </p:txBody>
      </p:sp>
      <p:sp>
        <p:nvSpPr>
          <p:cNvPr id="20" name="Shape 18"/>
          <p:cNvSpPr/>
          <p:nvPr/>
        </p:nvSpPr>
        <p:spPr>
          <a:xfrm>
            <a:off x="621792" y="3712464"/>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21" name="Shape 19"/>
          <p:cNvSpPr/>
          <p:nvPr/>
        </p:nvSpPr>
        <p:spPr>
          <a:xfrm>
            <a:off x="804672" y="3877056"/>
            <a:ext cx="402336" cy="402336"/>
          </a:xfrm>
          <a:prstGeom prst="ellipse">
            <a:avLst/>
          </a:prstGeom>
          <a:solidFill>
            <a:srgbClr val="1B8A5A"/>
          </a:solidFill>
        </p:spPr>
      </p:sp>
      <p:sp>
        <p:nvSpPr>
          <p:cNvPr id="22" name="Text 20"/>
          <p:cNvSpPr txBox="1"/>
          <p:nvPr/>
        </p:nvSpPr>
        <p:spPr>
          <a:xfrm>
            <a:off x="804672" y="3877056"/>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23" name="Text 21"/>
          <p:cNvSpPr txBox="1"/>
          <p:nvPr/>
        </p:nvSpPr>
        <p:spPr>
          <a:xfrm>
            <a:off x="1399032" y="3712464"/>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Private EC2 has no Public IPv4 address</a:t>
            </a:r>
            <a:endParaRPr lang="en-US" sz="1180" dirty="0"/>
          </a:p>
        </p:txBody>
      </p:sp>
      <p:sp>
        <p:nvSpPr>
          <p:cNvPr id="24" name="Shape 22"/>
          <p:cNvSpPr/>
          <p:nvPr/>
        </p:nvSpPr>
        <p:spPr>
          <a:xfrm>
            <a:off x="6291072" y="3712464"/>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25" name="Shape 23"/>
          <p:cNvSpPr/>
          <p:nvPr/>
        </p:nvSpPr>
        <p:spPr>
          <a:xfrm>
            <a:off x="6473952" y="3877056"/>
            <a:ext cx="402336" cy="402336"/>
          </a:xfrm>
          <a:prstGeom prst="ellipse">
            <a:avLst/>
          </a:prstGeom>
          <a:solidFill>
            <a:srgbClr val="1B8A5A"/>
          </a:solidFill>
        </p:spPr>
      </p:sp>
      <p:sp>
        <p:nvSpPr>
          <p:cNvPr id="26" name="Text 24"/>
          <p:cNvSpPr txBox="1"/>
          <p:nvPr/>
        </p:nvSpPr>
        <p:spPr>
          <a:xfrm>
            <a:off x="6473952" y="3877056"/>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27" name="Text 25"/>
          <p:cNvSpPr txBox="1"/>
          <p:nvPr/>
        </p:nvSpPr>
        <p:spPr>
          <a:xfrm>
            <a:off x="7068312" y="3712464"/>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Public Route Table routes 0.0.0.0/0 → Internet Gateway</a:t>
            </a:r>
            <a:endParaRPr lang="en-US" sz="1180" dirty="0"/>
          </a:p>
        </p:txBody>
      </p:sp>
      <p:sp>
        <p:nvSpPr>
          <p:cNvPr id="28" name="Shape 26"/>
          <p:cNvSpPr/>
          <p:nvPr/>
        </p:nvSpPr>
        <p:spPr>
          <a:xfrm>
            <a:off x="621792" y="4608576"/>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29" name="Shape 27"/>
          <p:cNvSpPr/>
          <p:nvPr/>
        </p:nvSpPr>
        <p:spPr>
          <a:xfrm>
            <a:off x="804672" y="4773168"/>
            <a:ext cx="402336" cy="402336"/>
          </a:xfrm>
          <a:prstGeom prst="ellipse">
            <a:avLst/>
          </a:prstGeom>
          <a:solidFill>
            <a:srgbClr val="1B8A5A"/>
          </a:solidFill>
        </p:spPr>
      </p:sp>
      <p:sp>
        <p:nvSpPr>
          <p:cNvPr id="30" name="Text 28"/>
          <p:cNvSpPr txBox="1"/>
          <p:nvPr/>
        </p:nvSpPr>
        <p:spPr>
          <a:xfrm>
            <a:off x="804672" y="4773168"/>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31" name="Text 29"/>
          <p:cNvSpPr txBox="1"/>
          <p:nvPr/>
        </p:nvSpPr>
        <p:spPr>
          <a:xfrm>
            <a:off x="1399032" y="4608576"/>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Public EC2 can reach Private EC2 using its Private IP</a:t>
            </a:r>
            <a:endParaRPr lang="en-US" sz="1180" dirty="0"/>
          </a:p>
        </p:txBody>
      </p:sp>
      <p:sp>
        <p:nvSpPr>
          <p:cNvPr id="32" name="Shape 30"/>
          <p:cNvSpPr/>
          <p:nvPr/>
        </p:nvSpPr>
        <p:spPr>
          <a:xfrm>
            <a:off x="6291072" y="4608576"/>
            <a:ext cx="5257800" cy="731520"/>
          </a:xfrm>
          <a:prstGeom prst="roundRect">
            <a:avLst>
              <a:gd name="adj" fmla="val 8750"/>
            </a:avLst>
          </a:prstGeom>
          <a:solidFill>
            <a:srgbClr val="FFFFFF"/>
          </a:solidFill>
          <a:ln w="12700">
            <a:solidFill>
              <a:srgbClr val="DCE3F0"/>
            </a:solidFill>
            <a:prstDash val="solid"/>
          </a:ln>
          <a:effectLst>
            <a:outerShdw blurRad="63500" dist="25400" dir="5400000" algn="bl" rotWithShape="0">
              <a:srgbClr val="8CA0BF">
                <a:alpha val="16000"/>
              </a:srgbClr>
            </a:outerShdw>
          </a:effectLst>
        </p:spPr>
      </p:sp>
      <p:sp>
        <p:nvSpPr>
          <p:cNvPr id="33" name="Shape 31"/>
          <p:cNvSpPr/>
          <p:nvPr/>
        </p:nvSpPr>
        <p:spPr>
          <a:xfrm>
            <a:off x="6473952" y="4773168"/>
            <a:ext cx="402336" cy="402336"/>
          </a:xfrm>
          <a:prstGeom prst="ellipse">
            <a:avLst/>
          </a:prstGeom>
          <a:solidFill>
            <a:srgbClr val="1B8A5A"/>
          </a:solidFill>
        </p:spPr>
      </p:sp>
      <p:sp>
        <p:nvSpPr>
          <p:cNvPr id="34" name="Text 32"/>
          <p:cNvSpPr txBox="1"/>
          <p:nvPr/>
        </p:nvSpPr>
        <p:spPr>
          <a:xfrm>
            <a:off x="6473952" y="4773168"/>
            <a:ext cx="402336" cy="402336"/>
          </a:xfrm>
          <a:prstGeom prst="rect">
            <a:avLst/>
          </a:prstGeom>
          <a:noFill/>
        </p:spPr>
        <p:txBody>
          <a:bodyPr wrap="square" lIns="0" tIns="0" rIns="0" bIns="0" rtlCol="0" anchor="ctr"/>
          <a:lstStyle/>
          <a:p>
            <a:pPr marL="0" indent="0" algn="ctr">
              <a:buNone/>
            </a:pPr>
            <a:r>
              <a:rPr lang="en-US" sz="1145"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1145" dirty="0"/>
          </a:p>
        </p:txBody>
      </p:sp>
      <p:sp>
        <p:nvSpPr>
          <p:cNvPr id="35" name="Text 33"/>
          <p:cNvSpPr txBox="1"/>
          <p:nvPr/>
        </p:nvSpPr>
        <p:spPr>
          <a:xfrm>
            <a:off x="7068312" y="4608576"/>
            <a:ext cx="4297680" cy="731520"/>
          </a:xfrm>
          <a:prstGeom prst="rect">
            <a:avLst/>
          </a:prstGeom>
          <a:noFill/>
        </p:spPr>
        <p:txBody>
          <a:bodyPr wrap="square" lIns="0" tIns="0" rIns="0" bIns="0" rtlCol="0" anchor="ctr"/>
          <a:lstStyle/>
          <a:p>
            <a:pPr marL="0" indent="0">
              <a:lnSpc>
                <a:spcPct val="110000"/>
              </a:lnSpc>
              <a:buNone/>
            </a:pPr>
            <a:r>
              <a:rPr lang="en-US" sz="1180" dirty="0">
                <a:solidFill>
                  <a:srgbClr val="16213A"/>
                </a:solidFill>
                <a:latin typeface="Calibri" panose="020F0502020204030204" pitchFamily="34" charset="0"/>
                <a:ea typeface="Calibri" panose="020F0502020204030204" pitchFamily="34" charset="-122"/>
                <a:cs typeface="Calibri" panose="020F0502020204030204" pitchFamily="34" charset="-120"/>
              </a:rPr>
              <a:t>Security Group allows ICMP between the required subnet/instances</a:t>
            </a:r>
            <a:endParaRPr lang="en-US" sz="1180" dirty="0"/>
          </a:p>
        </p:txBody>
      </p:sp>
      <p:sp>
        <p:nvSpPr>
          <p:cNvPr id="36" name="Text 34"/>
          <p:cNvSpPr/>
          <p:nvPr/>
        </p:nvSpPr>
        <p:spPr>
          <a:xfrm>
            <a:off x="457200" y="6547104"/>
            <a:ext cx="7315200" cy="256032"/>
          </a:xfrm>
          <a:prstGeom prst="rect">
            <a:avLst/>
          </a:prstGeom>
          <a:noFill/>
        </p:spPr>
        <p:txBody>
          <a:bodyPr wrap="square" rtlCol="0" anchor="ctr"/>
          <a:lstStyle/>
          <a:p>
            <a:pPr marL="0" indent="0" algn="l">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Project 6 — EC2 in Public/Private Subnet &amp; Connectivity Test</a:t>
            </a:r>
            <a:endParaRPr lang="en-US" sz="900" dirty="0"/>
          </a:p>
        </p:txBody>
      </p:sp>
      <p:sp>
        <p:nvSpPr>
          <p:cNvPr id="37" name="Text 35"/>
          <p:cNvSpPr/>
          <p:nvPr/>
        </p:nvSpPr>
        <p:spPr>
          <a:xfrm>
            <a:off x="11277295" y="6547104"/>
            <a:ext cx="457200" cy="256032"/>
          </a:xfrm>
          <a:prstGeom prst="rect">
            <a:avLst/>
          </a:prstGeom>
          <a:noFill/>
        </p:spPr>
        <p:txBody>
          <a:bodyPr wrap="square" rtlCol="0" anchor="ctr"/>
          <a:lstStyle/>
          <a:p>
            <a:pPr marL="0" indent="0" algn="r">
              <a:buNone/>
            </a:pPr>
            <a:r>
              <a:rPr lang="en-US" sz="900" dirty="0">
                <a:solidFill>
                  <a:srgbClr val="5A6B87"/>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Text 0"/>
          <p:cNvSpPr txBox="1"/>
          <p:nvPr/>
        </p:nvSpPr>
        <p:spPr>
          <a:xfrm>
            <a:off x="822960" y="777240"/>
            <a:ext cx="7315200" cy="365760"/>
          </a:xfrm>
          <a:prstGeom prst="rect">
            <a:avLst/>
          </a:prstGeom>
          <a:noFill/>
        </p:spPr>
        <p:txBody>
          <a:bodyPr wrap="square" lIns="0" tIns="0" rIns="0" bIns="0" rtlCol="0" anchor="ctr"/>
          <a:lstStyle/>
          <a:p>
            <a:pPr marL="0" indent="0">
              <a:buNone/>
            </a:pPr>
            <a:r>
              <a:rPr lang="en-US" sz="13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RESULT &amp; CONCLUSION</a:t>
            </a:r>
            <a:endParaRPr lang="en-US" sz="1300" dirty="0"/>
          </a:p>
        </p:txBody>
      </p:sp>
      <p:sp>
        <p:nvSpPr>
          <p:cNvPr id="3" name="Text 1"/>
          <p:cNvSpPr txBox="1"/>
          <p:nvPr/>
        </p:nvSpPr>
        <p:spPr>
          <a:xfrm>
            <a:off x="777240" y="1097280"/>
            <a:ext cx="8229600" cy="685800"/>
          </a:xfrm>
          <a:prstGeom prst="rect">
            <a:avLst/>
          </a:prstGeom>
          <a:noFill/>
        </p:spPr>
        <p:txBody>
          <a:bodyPr wrap="square" lIns="0" tIns="0" rIns="0" bIns="0" rtlCol="0" anchor="ctr"/>
          <a:lstStyle/>
          <a:p>
            <a:pPr marL="0" indent="0">
              <a:buNone/>
            </a:pPr>
            <a:r>
              <a:rPr lang="en-US" sz="33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Project Outcome</a:t>
            </a:r>
            <a:endParaRPr lang="en-US" sz="3300" dirty="0"/>
          </a:p>
        </p:txBody>
      </p:sp>
      <p:sp>
        <p:nvSpPr>
          <p:cNvPr id="4" name="Shape 2"/>
          <p:cNvSpPr/>
          <p:nvPr/>
        </p:nvSpPr>
        <p:spPr>
          <a:xfrm>
            <a:off x="822960" y="1965960"/>
            <a:ext cx="10515600" cy="1371600"/>
          </a:xfrm>
          <a:prstGeom prst="roundRect">
            <a:avLst>
              <a:gd name="adj" fmla="val 5333"/>
            </a:avLst>
          </a:prstGeom>
          <a:solidFill>
            <a:srgbClr val="1E2F4D"/>
          </a:solidFill>
          <a:ln w="9525">
            <a:solidFill>
              <a:srgbClr val="2C406B"/>
            </a:solidFill>
            <a:prstDash val="solid"/>
          </a:ln>
        </p:spPr>
      </p:sp>
      <p:sp>
        <p:nvSpPr>
          <p:cNvPr id="5" name="Text 3"/>
          <p:cNvSpPr txBox="1"/>
          <p:nvPr/>
        </p:nvSpPr>
        <p:spPr>
          <a:xfrm>
            <a:off x="1097280" y="2103120"/>
            <a:ext cx="2743200" cy="274320"/>
          </a:xfrm>
          <a:prstGeom prst="rect">
            <a:avLst/>
          </a:prstGeom>
          <a:noFill/>
        </p:spPr>
        <p:txBody>
          <a:bodyPr wrap="square" lIns="0" tIns="0" rIns="0" bIns="0" rtlCol="0" anchor="ctr"/>
          <a:lstStyle/>
          <a:p>
            <a:pPr marL="0" indent="0">
              <a:buNone/>
            </a:pPr>
            <a:r>
              <a:rPr lang="en-US" sz="1100" b="1" kern="0" spc="150" dirty="0">
                <a:solidFill>
                  <a:srgbClr val="FF9900"/>
                </a:solidFill>
                <a:latin typeface="Calibri" panose="020F0502020204030204" pitchFamily="34" charset="0"/>
                <a:ea typeface="Calibri" panose="020F0502020204030204" pitchFamily="34" charset="-122"/>
                <a:cs typeface="Calibri" panose="020F0502020204030204" pitchFamily="34" charset="-120"/>
              </a:rPr>
              <a:t>RESULT</a:t>
            </a:r>
            <a:endParaRPr lang="en-US" sz="1100" dirty="0"/>
          </a:p>
        </p:txBody>
      </p:sp>
      <p:sp>
        <p:nvSpPr>
          <p:cNvPr id="6" name="Text 4"/>
          <p:cNvSpPr txBox="1"/>
          <p:nvPr/>
        </p:nvSpPr>
        <p:spPr>
          <a:xfrm>
            <a:off x="1097280" y="2395728"/>
            <a:ext cx="9966960" cy="868680"/>
          </a:xfrm>
          <a:prstGeom prst="rect">
            <a:avLst/>
          </a:prstGeom>
          <a:noFill/>
        </p:spPr>
        <p:txBody>
          <a:bodyPr wrap="square" lIns="0" tIns="0" rIns="0" bIns="0" rtlCol="0" anchor="ctr"/>
          <a:lstStyle/>
          <a:p>
            <a:pPr marL="0" indent="0">
              <a:lnSpc>
                <a:spcPct val="12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The Public and Private EC2 instances were successfully launched in their respective subnets within the same VPC. The Public EC2 was reachable via SSH, and connectivity to the Private EC2 was verified using its private IP address.</a:t>
            </a:r>
            <a:endParaRPr lang="en-US" sz="1200" dirty="0"/>
          </a:p>
        </p:txBody>
      </p:sp>
      <p:sp>
        <p:nvSpPr>
          <p:cNvPr id="7" name="Shape 5"/>
          <p:cNvSpPr/>
          <p:nvPr/>
        </p:nvSpPr>
        <p:spPr>
          <a:xfrm>
            <a:off x="822960" y="3520440"/>
            <a:ext cx="10515600" cy="1554480"/>
          </a:xfrm>
          <a:prstGeom prst="roundRect">
            <a:avLst>
              <a:gd name="adj" fmla="val 4706"/>
            </a:avLst>
          </a:prstGeom>
          <a:solidFill>
            <a:srgbClr val="1E2F4D"/>
          </a:solidFill>
          <a:ln w="9525">
            <a:solidFill>
              <a:srgbClr val="2C406B"/>
            </a:solidFill>
            <a:prstDash val="solid"/>
          </a:ln>
        </p:spPr>
      </p:sp>
      <p:sp>
        <p:nvSpPr>
          <p:cNvPr id="8" name="Text 6"/>
          <p:cNvSpPr txBox="1"/>
          <p:nvPr/>
        </p:nvSpPr>
        <p:spPr>
          <a:xfrm>
            <a:off x="1097280" y="3657600"/>
            <a:ext cx="2743200" cy="274320"/>
          </a:xfrm>
          <a:prstGeom prst="rect">
            <a:avLst/>
          </a:prstGeom>
          <a:noFill/>
        </p:spPr>
        <p:txBody>
          <a:bodyPr wrap="square" lIns="0" tIns="0" rIns="0" bIns="0" rtlCol="0" anchor="ctr"/>
          <a:lstStyle/>
          <a:p>
            <a:pPr marL="0" indent="0">
              <a:buNone/>
            </a:pPr>
            <a:r>
              <a:rPr lang="en-US" sz="1100" b="1" kern="0" spc="150" dirty="0">
                <a:solidFill>
                  <a:srgbClr val="FF9900"/>
                </a:solidFill>
                <a:latin typeface="Calibri" panose="020F0502020204030204" pitchFamily="34" charset="0"/>
                <a:ea typeface="Calibri" panose="020F0502020204030204" pitchFamily="34" charset="-122"/>
                <a:cs typeface="Calibri" panose="020F0502020204030204" pitchFamily="34" charset="-120"/>
              </a:rPr>
              <a:t>CONCLUSION</a:t>
            </a:r>
            <a:endParaRPr lang="en-US" sz="1100" dirty="0"/>
          </a:p>
        </p:txBody>
      </p:sp>
      <p:sp>
        <p:nvSpPr>
          <p:cNvPr id="9" name="Text 7"/>
          <p:cNvSpPr txBox="1"/>
          <p:nvPr/>
        </p:nvSpPr>
        <p:spPr>
          <a:xfrm>
            <a:off x="1097280" y="3950208"/>
            <a:ext cx="9966960" cy="1051560"/>
          </a:xfrm>
          <a:prstGeom prst="rect">
            <a:avLst/>
          </a:prstGeom>
          <a:noFill/>
        </p:spPr>
        <p:txBody>
          <a:bodyPr wrap="square" lIns="0" tIns="0" rIns="0" bIns="0" rtlCol="0" anchor="ctr"/>
          <a:lstStyle/>
          <a:p>
            <a:pPr marL="0" indent="0">
              <a:lnSpc>
                <a:spcPct val="12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This project demonstrated how to deploy EC2 instances across public and private subnets in a custom VPC — giving the public instance internet access through an Internet Gateway, while keeping the private instance unreachable from the internet. Connectivity between the two was confirmed using private IP addresses.</a:t>
            </a:r>
            <a:endParaRPr lang="en-US" sz="1200" dirty="0"/>
          </a:p>
        </p:txBody>
      </p:sp>
      <p:sp>
        <p:nvSpPr>
          <p:cNvPr id="10" name="Shape 8"/>
          <p:cNvSpPr/>
          <p:nvPr/>
        </p:nvSpPr>
        <p:spPr>
          <a:xfrm>
            <a:off x="822960" y="5349240"/>
            <a:ext cx="1371600" cy="36576"/>
          </a:xfrm>
          <a:prstGeom prst="rect">
            <a:avLst/>
          </a:prstGeom>
          <a:solidFill>
            <a:srgbClr val="FF9900"/>
          </a:solidFill>
        </p:spPr>
      </p:sp>
      <p:sp>
        <p:nvSpPr>
          <p:cNvPr id="11" name="Text 9"/>
          <p:cNvSpPr txBox="1"/>
          <p:nvPr/>
        </p:nvSpPr>
        <p:spPr>
          <a:xfrm>
            <a:off x="822960" y="5486400"/>
            <a:ext cx="914400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Prince (Group Leader) · Sohit Sharma · Mudit Chaudhary · Anshika Rai</a:t>
            </a:r>
            <a:endParaRPr lang="en-US" sz="1200" dirty="0"/>
          </a:p>
        </p:txBody>
      </p:sp>
      <p:sp>
        <p:nvSpPr>
          <p:cNvPr id="12" name="Text 10"/>
          <p:cNvSpPr txBox="1"/>
          <p:nvPr/>
        </p:nvSpPr>
        <p:spPr>
          <a:xfrm>
            <a:off x="822960" y="5779008"/>
            <a:ext cx="9144000" cy="274320"/>
          </a:xfrm>
          <a:prstGeom prst="rect">
            <a:avLst/>
          </a:prstGeom>
          <a:noFill/>
        </p:spPr>
        <p:txBody>
          <a:bodyPr wrap="square" lIns="0" tIns="0" rIns="0" bIns="0" rtlCol="0" anchor="ctr"/>
          <a:lstStyle/>
          <a:p>
            <a:pPr marL="0" indent="0">
              <a:buNone/>
            </a:pPr>
            <a:r>
              <a:rPr lang="en-US" sz="1050" dirty="0">
                <a:solidFill>
                  <a:srgbClr val="8FA3C8"/>
                </a:solidFill>
                <a:latin typeface="Calibri" panose="020F0502020204030204" pitchFamily="34" charset="0"/>
                <a:ea typeface="Calibri" panose="020F0502020204030204" pitchFamily="34" charset="-122"/>
                <a:cs typeface="Calibri" panose="020F0502020204030204" pitchFamily="34" charset="-120"/>
              </a:rPr>
              <a:t>Project 6 · Computer Science &amp; Engineering — Cloud &amp; DevOps · AWS Account 638596943163</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6128</Words>
  <Application>WPS Presentation</Application>
  <PresentationFormat>On-screen Show (16:9)</PresentationFormat>
  <Paragraphs>352</Paragraphs>
  <Slides>10</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Prince Sorout</cp:lastModifiedBy>
  <cp:revision>2</cp:revision>
  <dcterms:created xsi:type="dcterms:W3CDTF">2026-08-31T07:24:00Z</dcterms:created>
  <dcterms:modified xsi:type="dcterms:W3CDTF">2026-08-31T07:32:15Z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6A0DAA6605734EE89B30DDEC4C2D8F69_13</vt:lpwstr>
  </property>
  <property fmtid="{D5CDD505-2E9C-101B-9397-08002B2CF9AE}" pid="3" name="KSOProductBuildVer">
    <vt:lpwstr>1033-12.1.0.28032</vt:lpwstr>
  </property>
</Properties>
</file>